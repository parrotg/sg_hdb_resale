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39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4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41"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98347120-EC40-48E6-8B5C-E125C6557CAE}"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noRot="1" noChangeAspect="1"/>
          </p:cNvSpPr>
          <p:nvPr>
            <p:ph type="sldImg"/>
          </p:nvPr>
        </p:nvSpPr>
        <p:spPr>
          <a:xfrm>
            <a:off x="216000" y="812520"/>
            <a:ext cx="7126920" cy="4008600"/>
          </a:xfrm>
          <a:prstGeom prst="rect">
            <a:avLst/>
          </a:prstGeom>
          <a:ln w="0">
            <a:noFill/>
          </a:ln>
        </p:spPr>
      </p:sp>
      <p:sp>
        <p:nvSpPr>
          <p:cNvPr id="294"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ParrotG:</a:t>
            </a:r>
            <a:endParaRPr lang="en-US" sz="1200" b="0" strike="noStrike" spc="-1">
              <a:latin typeface="Arial"/>
            </a:endParaRPr>
          </a:p>
          <a:p>
            <a:pPr marL="216000" indent="-216000">
              <a:lnSpc>
                <a:spcPct val="100000"/>
              </a:lnSpc>
              <a:buNone/>
            </a:pPr>
            <a:r>
              <a:rPr lang="en-SG" sz="1200" b="0" strike="noStrike" spc="-1">
                <a:latin typeface="Arial"/>
              </a:rPr>
              <a:t>Our project asks a simple question with an easy-to-misread answer: when one HDB Town has a higher resale price than another, how much of that difference reflects location, and how much reflects the kinds of flats sold there?</a:t>
            </a:r>
            <a:endParaRPr lang="en-US" sz="1200" b="0" strike="noStrike" spc="-1">
              <a:latin typeface="Arial"/>
            </a:endParaRPr>
          </a:p>
          <a:p>
            <a:pPr marL="216000" indent="-216000">
              <a:lnSpc>
                <a:spcPct val="100000"/>
              </a:lnSpc>
              <a:buNone/>
            </a:pPr>
            <a:r>
              <a:rPr lang="en-SG" sz="1200" b="0" strike="noStrike" spc="-1">
                <a:latin typeface="Arial"/>
              </a:rPr>
              <a:t>We use 222,066 resale registrations from January 2017 through December 2025. Our main comparison is PASIR RIS against BEDOK. In the raw Town model, PASIR RIS appears about 26 percent more expensive. After we compare transactions on time and housing characteristics, the estimate becomes about 12.5 percent lower. Our story is about how data preparation changes interpretation, prediction, and governance—not about building the most complex model.</a:t>
            </a:r>
            <a:endParaRPr lang="en-US" sz="1200" b="0" strike="noStrike" spc="-1">
              <a:latin typeface="Arial"/>
            </a:endParaRPr>
          </a:p>
        </p:txBody>
      </p:sp>
      <p:sp>
        <p:nvSpPr>
          <p:cNvPr id="295" name="PlaceHolder 3"/>
          <p:cNvSpPr>
            <a:spLocks noGrp="1"/>
          </p:cNvSpPr>
          <p:nvPr>
            <p:ph type="sldNum" idx="4"/>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noRot="1" noChangeAspect="1"/>
          </p:cNvSpPr>
          <p:nvPr>
            <p:ph type="sldImg"/>
          </p:nvPr>
        </p:nvSpPr>
        <p:spPr>
          <a:xfrm>
            <a:off x="215900" y="812800"/>
            <a:ext cx="7126288" cy="4008438"/>
          </a:xfrm>
          <a:prstGeom prst="rect">
            <a:avLst/>
          </a:prstGeom>
          <a:ln w="0">
            <a:noFill/>
          </a:ln>
        </p:spPr>
      </p:sp>
      <p:sp>
        <p:nvSpPr>
          <p:cNvPr id="297"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ParrotG:</a:t>
            </a:r>
            <a:endParaRPr lang="en-US" sz="1200" b="0" strike="noStrike" spc="-1">
              <a:latin typeface="Arial"/>
            </a:endParaRPr>
          </a:p>
          <a:p>
            <a:pPr marL="216000" indent="-216000">
              <a:lnSpc>
                <a:spcPct val="100000"/>
              </a:lnSpc>
              <a:buNone/>
            </a:pPr>
            <a:r>
              <a:rPr lang="en-SG" sz="1200" b="0" strike="noStrike" spc="-1">
                <a:latin typeface="Arial"/>
              </a:rPr>
              <a:t>We began with literal checks before converting any fields. Pandas found no missing values, blank strings, outer whitespace, label variants, or numeric parse failures. That clean surface did not mean the data required no decisions.</a:t>
            </a:r>
            <a:endParaRPr lang="en-US" sz="1200" b="0" strike="noStrike" spc="-1">
              <a:latin typeface="Arial"/>
            </a:endParaRPr>
          </a:p>
          <a:p>
            <a:pPr marL="216000" indent="-216000">
              <a:lnSpc>
                <a:spcPct val="100000"/>
              </a:lnSpc>
              <a:buNone/>
            </a:pPr>
            <a:r>
              <a:rPr lang="en-SG" sz="1200" b="0" strike="noStrike" spc="-1">
                <a:latin typeface="Arial"/>
              </a:rPr>
              <a:t>There were 308 groups of exactly identical public rows: 307 pairs and one triplet. Together they created 309 excess copies. Because no transaction identifier or unit number is available, we cannot prove whether identical rows are separate sales. For a conservative modelling frame, we kept one representative from each group and removed the excess copies.</a:t>
            </a:r>
            <a:endParaRPr lang="en-US" sz="1200" b="0" strike="noStrike" spc="-1">
              <a:latin typeface="Arial"/>
            </a:endParaRPr>
          </a:p>
          <a:p>
            <a:pPr marL="216000" indent="-216000">
              <a:lnSpc>
                <a:spcPct val="100000"/>
              </a:lnSpc>
              <a:buNone/>
            </a:pPr>
            <a:r>
              <a:rPr lang="en-SG" sz="1200" b="0" strike="noStrike" spc="-1">
                <a:latin typeface="Arial"/>
              </a:rPr>
              <a:t>We also converted Remaining Lease to fractional years and compared it with 99 minus the elapsed years since lease commencement. We removed 128 records that differed by more than one year because their cause could not be resolved. This leaves 221,629 rows, or 99.803 percent of the source. Assertions confirm that excluded indices never return in the later analytical or modelling frames.</a:t>
            </a:r>
            <a:endParaRPr lang="en-US" sz="1200" b="0" strike="noStrike" spc="-1">
              <a:latin typeface="Arial"/>
            </a:endParaRPr>
          </a:p>
          <a:p>
            <a:pPr marL="216000" indent="-216000">
              <a:lnSpc>
                <a:spcPct val="100000"/>
              </a:lnSpc>
              <a:buNone/>
            </a:pPr>
            <a:r>
              <a:rPr lang="en-SG" sz="1200" b="0" strike="noStrike" spc="-1">
                <a:latin typeface="Arial"/>
              </a:rPr>
              <a:t>We did not automatically delete valid statistical tails. Removing high-price training records slightly improves one aggregate result but worsens MAE for expensive test transactions by about 4,009 dollars. Those records represent a real market segment, so they remain.</a:t>
            </a:r>
            <a:endParaRPr lang="en-US" sz="1200" b="0" strike="noStrike" spc="-1">
              <a:latin typeface="Arial"/>
            </a:endParaRPr>
          </a:p>
        </p:txBody>
      </p:sp>
      <p:sp>
        <p:nvSpPr>
          <p:cNvPr id="298" name="PlaceHolder 3"/>
          <p:cNvSpPr>
            <a:spLocks noGrp="1"/>
          </p:cNvSpPr>
          <p:nvPr>
            <p:ph type="sldNum" idx="5"/>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215900" y="812800"/>
            <a:ext cx="7126288" cy="4008438"/>
          </a:xfrm>
          <a:prstGeom prst="rect">
            <a:avLst/>
          </a:prstGeom>
          <a:ln w="0">
            <a:noFill/>
          </a:ln>
        </p:spPr>
      </p:sp>
      <p:sp>
        <p:nvSpPr>
          <p:cNvPr id="300"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ParrotG:</a:t>
            </a:r>
            <a:endParaRPr lang="en-US" sz="1200" b="0" strike="noStrike" spc="-1">
              <a:latin typeface="Arial"/>
            </a:endParaRPr>
          </a:p>
          <a:p>
            <a:pPr marL="216000" indent="-216000">
              <a:lnSpc>
                <a:spcPct val="100000"/>
              </a:lnSpc>
              <a:buNone/>
            </a:pPr>
            <a:r>
              <a:rPr lang="en-SG" sz="1200" b="0" strike="noStrike" spc="-1">
                <a:latin typeface="Arial"/>
              </a:rPr>
              <a:t>Our encoding choices follow what each variable means. Flat Type and Flat Model are labels, so we use one-hot categorical controls. The pie charts show the composition without changing the underlying categories.</a:t>
            </a:r>
            <a:endParaRPr lang="en-US" sz="1200" b="0" strike="noStrike" spc="-1">
              <a:latin typeface="Arial"/>
            </a:endParaRPr>
          </a:p>
          <a:p>
            <a:pPr marL="216000" indent="-216000">
              <a:lnSpc>
                <a:spcPct val="100000"/>
              </a:lnSpc>
              <a:buNone/>
            </a:pPr>
            <a:r>
              <a:rPr lang="en-SG" sz="1200" b="0" strike="noStrike" spc="-1">
                <a:latin typeface="Arial"/>
              </a:rPr>
              <a:t>Storey Range means the three-floor band containing the flat. We encode its order for summaries, but use categories in the hedonic regression so the model does not assume that every move of three floors has the same price effect.</a:t>
            </a:r>
            <a:endParaRPr lang="en-US" sz="1200" b="0" strike="noStrike" spc="-1">
              <a:latin typeface="Arial"/>
            </a:endParaRPr>
          </a:p>
          <a:p>
            <a:pPr marL="216000" indent="-216000">
              <a:lnSpc>
                <a:spcPct val="100000"/>
              </a:lnSpc>
              <a:buNone/>
            </a:pPr>
            <a:r>
              <a:rPr lang="en-SG" sz="1200" b="0" strike="noStrike" spc="-1">
                <a:latin typeface="Arial"/>
              </a:rPr>
              <a:t>Remaining Lease becomes fractional years. Month becomes registration time plus calendar controls. Resale Price is strongly right-skewed; the log transform reduces skewness from 0.959 to 0.038 and gives percentage-style regression coefficients.</a:t>
            </a:r>
            <a:endParaRPr lang="en-US" sz="1200" b="0" strike="noStrike" spc="-1">
              <a:latin typeface="Arial"/>
            </a:endParaRPr>
          </a:p>
          <a:p>
            <a:pPr marL="216000" indent="-216000">
              <a:lnSpc>
                <a:spcPct val="100000"/>
              </a:lnSpc>
              <a:buNone/>
            </a:pPr>
            <a:r>
              <a:rPr lang="en-SG" sz="1200" b="0" strike="noStrike" spc="-1">
                <a:latin typeface="Arial"/>
              </a:rPr>
              <a:t>Finally, an address is not Block alone. We use the hierarchy Town, Street, and Block. Historical target encodings use only earlier years and shrink sparse blocks toward their street and Town parents.</a:t>
            </a:r>
            <a:endParaRPr lang="en-US" sz="1200" b="0" strike="noStrike" spc="-1">
              <a:latin typeface="Arial"/>
            </a:endParaRPr>
          </a:p>
        </p:txBody>
      </p:sp>
      <p:sp>
        <p:nvSpPr>
          <p:cNvPr id="301" name="PlaceHolder 3"/>
          <p:cNvSpPr>
            <a:spLocks noGrp="1"/>
          </p:cNvSpPr>
          <p:nvPr>
            <p:ph type="sldNum" idx="6"/>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215900" y="812800"/>
            <a:ext cx="7126288" cy="4008438"/>
          </a:xfrm>
          <a:prstGeom prst="rect">
            <a:avLst/>
          </a:prstGeom>
          <a:ln w="0">
            <a:noFill/>
          </a:ln>
        </p:spPr>
      </p:sp>
      <p:sp>
        <p:nvSpPr>
          <p:cNvPr id="303"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YuyaoWu61:</a:t>
            </a:r>
            <a:endParaRPr lang="en-US" sz="1200" b="0" strike="noStrike" spc="-1">
              <a:latin typeface="Arial"/>
            </a:endParaRPr>
          </a:p>
          <a:p>
            <a:pPr marL="216000" indent="-216000">
              <a:lnSpc>
                <a:spcPct val="100000"/>
              </a:lnSpc>
              <a:buNone/>
            </a:pPr>
            <a:r>
              <a:rPr lang="en-SG" sz="1200" b="0" strike="noStrike" spc="-1">
                <a:latin typeface="Arial"/>
              </a:rPr>
              <a:t>The sample is not evenly distributed. Four-room flats make up 42.3 percent of transactions, while 1 ROOM and MULTI-GENERATION each have fewer than 100 records. Town and Flat Type combinations are also uneven, as the heatmap shows. No category is completely new in the 2025 test set, but small groups still produce unstable coefficients and errors.</a:t>
            </a:r>
            <a:endParaRPr lang="en-US" sz="1200" b="0" strike="noStrike" spc="-1">
              <a:latin typeface="Arial"/>
            </a:endParaRPr>
          </a:p>
          <a:p>
            <a:pPr marL="216000" indent="-216000">
              <a:lnSpc>
                <a:spcPct val="100000"/>
              </a:lnSpc>
              <a:buNone/>
            </a:pPr>
            <a:r>
              <a:rPr lang="en-SG" sz="1200" b="0" strike="noStrike" spc="-1">
                <a:latin typeface="Arial"/>
              </a:rPr>
              <a:t>We therefore report transaction-weighted metrics and equal-Town metrics. In the standard model, a Town with more transactions has more influence. We also fit weighted least squares with inverse Town frequency, so every Town has equal total weight. That reduces Town macro-MAE from 48,728 to 47,265 dollars and reduces mean overprediction from 14,603 to 7,535 dollars.</a:t>
            </a:r>
            <a:endParaRPr lang="en-US" sz="1200" b="0" strike="noStrike" spc="-1">
              <a:latin typeface="Arial"/>
            </a:endParaRPr>
          </a:p>
          <a:p>
            <a:pPr marL="216000" indent="-216000">
              <a:lnSpc>
                <a:spcPct val="100000"/>
              </a:lnSpc>
              <a:buNone/>
            </a:pPr>
            <a:r>
              <a:rPr lang="en-SG" sz="1200" b="0" strike="noStrike" spc="-1">
                <a:latin typeface="Arial"/>
              </a:rPr>
              <a:t>The two models answer different questions: performance for the average recorded sale versus performance for the average Town. We report both rather than treating one weighting scheme as universally correct.</a:t>
            </a:r>
            <a:endParaRPr lang="en-US" sz="1200" b="0" strike="noStrike" spc="-1">
              <a:latin typeface="Arial"/>
            </a:endParaRPr>
          </a:p>
        </p:txBody>
      </p:sp>
      <p:sp>
        <p:nvSpPr>
          <p:cNvPr id="304" name="PlaceHolder 3"/>
          <p:cNvSpPr>
            <a:spLocks noGrp="1"/>
          </p:cNvSpPr>
          <p:nvPr>
            <p:ph type="sldNum" idx="7"/>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noRot="1" noChangeAspect="1"/>
          </p:cNvSpPr>
          <p:nvPr>
            <p:ph type="sldImg"/>
          </p:nvPr>
        </p:nvSpPr>
        <p:spPr>
          <a:xfrm>
            <a:off x="215900" y="812800"/>
            <a:ext cx="7126288" cy="4008438"/>
          </a:xfrm>
          <a:prstGeom prst="rect">
            <a:avLst/>
          </a:prstGeom>
          <a:ln w="0">
            <a:noFill/>
          </a:ln>
        </p:spPr>
      </p:sp>
      <p:sp>
        <p:nvSpPr>
          <p:cNvPr id="306"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YuyaoWu61:</a:t>
            </a:r>
            <a:endParaRPr lang="en-US" sz="1200" b="0" strike="noStrike" spc="-1">
              <a:latin typeface="Arial"/>
            </a:endParaRPr>
          </a:p>
          <a:p>
            <a:pPr marL="216000" indent="-216000">
              <a:lnSpc>
                <a:spcPct val="100000"/>
              </a:lnSpc>
              <a:buNone/>
            </a:pPr>
            <a:r>
              <a:rPr lang="en-SG" sz="1200" b="0" strike="noStrike" spc="-1">
                <a:latin typeface="Arial"/>
              </a:rPr>
              <a:t>We use hedonic pricing because a flat is a bundle of attributes. Its observed price is associated with location, size, type, model, storey, lease, and market time. A hedonic regression lets us hold these observed attributes constant step by step.</a:t>
            </a:r>
            <a:endParaRPr lang="en-US" sz="1200" b="0" strike="noStrike" spc="-1">
              <a:latin typeface="Arial"/>
            </a:endParaRPr>
          </a:p>
          <a:p>
            <a:pPr marL="216000" indent="-216000">
              <a:lnSpc>
                <a:spcPct val="100000"/>
              </a:lnSpc>
              <a:buNone/>
            </a:pPr>
            <a:r>
              <a:rPr lang="en-SG" sz="1200" b="0" strike="noStrike" spc="-1">
                <a:latin typeface="Arial"/>
              </a:rPr>
              <a:t>M0 contains Town only. M1 adds registration month. M2 adds log floor area. M3 adds Flat Type and Flat Model. M4 adds Storey Range and remaining lease. Every model uses the same 221,629 rows, and uncertainty is clustered by the public building address.</a:t>
            </a:r>
            <a:endParaRPr lang="en-US" sz="1200" b="0" strike="noStrike" spc="-1">
              <a:latin typeface="Arial"/>
            </a:endParaRPr>
          </a:p>
          <a:p>
            <a:pPr marL="216000" indent="-216000">
              <a:lnSpc>
                <a:spcPct val="100000"/>
              </a:lnSpc>
              <a:buNone/>
            </a:pPr>
            <a:r>
              <a:rPr lang="en-SG" sz="1200" b="0" strike="noStrike" spc="-1">
                <a:latin typeface="Arial"/>
              </a:rPr>
              <a:t>The Town coefficients are conditional associations. They do not estimate the causal effect of physically moving an identical flat from one Town to another, because renovation, accessibility, view, and other unobserved attributes remain outside the data.</a:t>
            </a:r>
            <a:endParaRPr lang="en-US" sz="1200" b="0" strike="noStrike" spc="-1">
              <a:latin typeface="Arial"/>
            </a:endParaRPr>
          </a:p>
        </p:txBody>
      </p:sp>
      <p:sp>
        <p:nvSpPr>
          <p:cNvPr id="307" name="PlaceHolder 3"/>
          <p:cNvSpPr>
            <a:spLocks noGrp="1"/>
          </p:cNvSpPr>
          <p:nvPr>
            <p:ph type="sldNum" idx="8"/>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noRot="1" noChangeAspect="1"/>
          </p:cNvSpPr>
          <p:nvPr>
            <p:ph type="sldImg"/>
          </p:nvPr>
        </p:nvSpPr>
        <p:spPr>
          <a:xfrm>
            <a:off x="215900" y="812800"/>
            <a:ext cx="7126288" cy="4008438"/>
          </a:xfrm>
          <a:prstGeom prst="rect">
            <a:avLst/>
          </a:prstGeom>
          <a:ln w="0">
            <a:noFill/>
          </a:ln>
        </p:spPr>
      </p:sp>
      <p:sp>
        <p:nvSpPr>
          <p:cNvPr id="309"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YuyaoWu61:</a:t>
            </a:r>
            <a:endParaRPr lang="en-US" sz="1200" b="0" strike="noStrike" spc="-1">
              <a:latin typeface="Arial"/>
            </a:endParaRPr>
          </a:p>
          <a:p>
            <a:pPr marL="216000" indent="-216000">
              <a:lnSpc>
                <a:spcPct val="100000"/>
              </a:lnSpc>
              <a:buNone/>
            </a:pPr>
            <a:r>
              <a:rPr lang="en-SG" sz="1200" b="0" strike="noStrike" spc="-1">
                <a:latin typeface="Arial"/>
              </a:rPr>
              <a:t>The PASIR RIS path is our central non-obvious finding. Relative to BEDOK, its coefficient moves from plus 26.0 percent in M0 to plus 26.5 after time controls, then to minus 6.3 after adding area, minus 10.2 after Type and Model, and minus 12.5 after Storey and lease.</a:t>
            </a:r>
            <a:endParaRPr lang="en-US" sz="1200" b="0" strike="noStrike" spc="-1">
              <a:latin typeface="Arial"/>
            </a:endParaRPr>
          </a:p>
          <a:p>
            <a:pPr marL="216000" indent="-216000">
              <a:lnSpc>
                <a:spcPct val="100000"/>
              </a:lnSpc>
              <a:buNone/>
            </a:pPr>
            <a:r>
              <a:rPr lang="en-SG" sz="1200" b="0" strike="noStrike" spc="-1">
                <a:latin typeface="Arial"/>
              </a:rPr>
              <a:t>In that chosen sequence, the area step accounts for 84 percent of the movement from M1 to M4. But correlated controls can absorb the same information. Across all six entry orders, area's share ranges from only 1.1 to 84.0 percent. Adding Type and Model first also reverses the sign. We therefore conclude that housing composition matters, while refusing to call 84 percent an independent area effect.</a:t>
            </a:r>
            <a:endParaRPr lang="en-US" sz="1200" b="0" strike="noStrike" spc="-1">
              <a:latin typeface="Arial"/>
            </a:endParaRPr>
          </a:p>
          <a:p>
            <a:pPr marL="216000" indent="-216000">
              <a:lnSpc>
                <a:spcPct val="100000"/>
              </a:lnSpc>
              <a:buNone/>
            </a:pPr>
            <a:r>
              <a:rPr lang="en-SG" sz="1200" b="0" strike="noStrike" spc="-1">
                <a:latin typeface="Arial"/>
              </a:rPr>
              <a:t>We also restrict both Towns to 4 ROOM, Model A flats and then to joint support cells based on year, storey, area, and lease. In the strictest sample, the adjusted difference remains negative 10.8 percent, with a 95 percent interval from minus 13.3 to minus 8.2. This supports a housing-composition reversal. It is an omitted-variable reversal, not a claimed Simpson's paradox and not a causal Town effect.</a:t>
            </a:r>
            <a:endParaRPr lang="en-US" sz="1200" b="0" strike="noStrike" spc="-1">
              <a:latin typeface="Arial"/>
            </a:endParaRPr>
          </a:p>
        </p:txBody>
      </p:sp>
      <p:sp>
        <p:nvSpPr>
          <p:cNvPr id="310" name="PlaceHolder 3"/>
          <p:cNvSpPr>
            <a:spLocks noGrp="1"/>
          </p:cNvSpPr>
          <p:nvPr>
            <p:ph type="sldNum" idx="9"/>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noRot="1" noChangeAspect="1"/>
          </p:cNvSpPr>
          <p:nvPr>
            <p:ph type="sldImg"/>
          </p:nvPr>
        </p:nvSpPr>
        <p:spPr>
          <a:xfrm>
            <a:off x="215900" y="812800"/>
            <a:ext cx="7126288" cy="4008438"/>
          </a:xfrm>
          <a:prstGeom prst="rect">
            <a:avLst/>
          </a:prstGeom>
          <a:ln w="0">
            <a:noFill/>
          </a:ln>
        </p:spPr>
      </p:sp>
      <p:sp>
        <p:nvSpPr>
          <p:cNvPr id="312"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drury:</a:t>
            </a:r>
            <a:endParaRPr lang="en-US" sz="1200" b="0" strike="noStrike" spc="-1">
              <a:latin typeface="Arial"/>
            </a:endParaRPr>
          </a:p>
          <a:p>
            <a:pPr marL="216000" indent="-216000">
              <a:lnSpc>
                <a:spcPct val="100000"/>
              </a:lnSpc>
              <a:buNone/>
            </a:pPr>
            <a:r>
              <a:rPr lang="en-SG" sz="1200" b="0" strike="noStrike" spc="-1">
                <a:latin typeface="Arial"/>
              </a:rPr>
              <a:t>Next, we test whether preparation changes out-of-time prediction while keeping the model class fixed as ordinary least squares. Development uses 2018 to 2023, 2024 selects the time trend, and 2025 is the test year. Every variant uses the same cleaned rows.</a:t>
            </a:r>
            <a:endParaRPr lang="en-US" sz="1200" b="0" strike="noStrike" spc="-1">
              <a:latin typeface="Arial"/>
            </a:endParaRPr>
          </a:p>
          <a:p>
            <a:pPr marL="216000" indent="-216000">
              <a:lnSpc>
                <a:spcPct val="100000"/>
              </a:lnSpc>
              <a:buNone/>
            </a:pPr>
            <a:r>
              <a:rPr lang="en-SG" sz="1200" b="0" strike="noStrike" spc="-1">
                <a:latin typeface="Arial"/>
              </a:rPr>
              <a:t>B0 is minimal: raw price and area, ordinal storey, and linear lease and time terms. B1 adds Flat Model and categorical storey. B2 adds log area and a quadratic lease term. B3 changes the target to log price with a smearing correction. B4 adds chronological hierarchical address encoding.</a:t>
            </a:r>
            <a:endParaRPr lang="en-US" sz="1200" b="0" strike="noStrike" spc="-1">
              <a:latin typeface="Arial"/>
            </a:endParaRPr>
          </a:p>
          <a:p>
            <a:pPr marL="216000" indent="-216000">
              <a:lnSpc>
                <a:spcPct val="100000"/>
              </a:lnSpc>
              <a:buNone/>
            </a:pPr>
            <a:r>
              <a:rPr lang="en-SG" sz="1200" b="0" strike="noStrike" spc="-1">
                <a:latin typeface="Arial"/>
              </a:rPr>
              <a:t>MAE falls from 59,789 dollars in B0 to 46,298 in B4, a 22.6 percent reduction. The large improvements come from functional-form preparation, the log target, and address information. But overall MAE is only one piece of evidence, so we then inspect where the final model fails.</a:t>
            </a:r>
            <a:endParaRPr lang="en-US" sz="1200" b="0" strike="noStrike" spc="-1">
              <a:latin typeface="Arial"/>
            </a:endParaRPr>
          </a:p>
        </p:txBody>
      </p:sp>
      <p:sp>
        <p:nvSpPr>
          <p:cNvPr id="313" name="PlaceHolder 3"/>
          <p:cNvSpPr>
            <a:spLocks noGrp="1"/>
          </p:cNvSpPr>
          <p:nvPr>
            <p:ph type="sldNum" idx="10"/>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215900" y="812800"/>
            <a:ext cx="7126288" cy="4008438"/>
          </a:xfrm>
          <a:prstGeom prst="rect">
            <a:avLst/>
          </a:prstGeom>
          <a:ln w="0">
            <a:noFill/>
          </a:ln>
        </p:spPr>
      </p:sp>
      <p:sp>
        <p:nvSpPr>
          <p:cNvPr id="315"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drury:</a:t>
            </a:r>
            <a:endParaRPr lang="en-US" sz="1200" b="0" strike="noStrike" spc="-1">
              <a:latin typeface="Arial"/>
            </a:endParaRPr>
          </a:p>
          <a:p>
            <a:pPr marL="216000" indent="-216000">
              <a:lnSpc>
                <a:spcPct val="100000"/>
              </a:lnSpc>
              <a:buNone/>
            </a:pPr>
            <a:r>
              <a:rPr lang="en-SG" sz="1200" b="0" strike="noStrike" spc="-1">
                <a:latin typeface="Arial"/>
              </a:rPr>
              <a:t>B4 improves the overall average but performs worse in BUKIT BATOK and TAMPINES. Relative to B0, their MAE rises by 20,310 and 10,873 dollars. This deterioration appears in all twelve months and is concentrated in common 4 ROOM and 5 ROOM transactions rather than only rare labels.</a:t>
            </a:r>
            <a:endParaRPr lang="en-US" sz="1200" b="0" strike="noStrike" spc="-1">
              <a:latin typeface="Arial"/>
            </a:endParaRPr>
          </a:p>
          <a:p>
            <a:pPr marL="216000" indent="-216000">
              <a:lnSpc>
                <a:spcPct val="100000"/>
              </a:lnSpc>
              <a:buNone/>
            </a:pPr>
            <a:r>
              <a:rPr lang="en-SG" sz="1200" b="0" strike="noStrike" spc="-1">
                <a:latin typeface="Arial"/>
              </a:rPr>
              <a:t>Replacing 2025 Flat-Type shares with 2024 shares explains only 755 dollars in BUKIT BATOK and 357 in TAMPINES. So a changed Flat-Type mix is not an adequate explanation.</a:t>
            </a:r>
            <a:endParaRPr lang="en-US" sz="1200" b="0" strike="noStrike" spc="-1">
              <a:latin typeface="Arial"/>
            </a:endParaRPr>
          </a:p>
          <a:p>
            <a:pPr marL="216000" indent="-216000">
              <a:lnSpc>
                <a:spcPct val="100000"/>
              </a:lnSpc>
              <a:buNone/>
            </a:pPr>
            <a:r>
              <a:rPr lang="en-SG" sz="1200" b="0" strike="noStrike" spc="-1">
                <a:latin typeface="Arial"/>
              </a:rPr>
              <a:t>The largest problem appears when the nominal historical address feature enters. From B3 to B4, overall MAE improves by only 934 dollars, while signed error moves from almost zero, plus 330, to overprediction of plus 14,603. A decomposition and frozen-history sensitivity show that recent nominal historical prices raise predictions. Because we selected these Towns after seeing the test results, this is exploratory error analysis, not proof of a causal mechanism.</a:t>
            </a:r>
            <a:endParaRPr lang="en-US" sz="1200" b="0" strike="noStrike" spc="-1">
              <a:latin typeface="Arial"/>
            </a:endParaRPr>
          </a:p>
        </p:txBody>
      </p:sp>
      <p:sp>
        <p:nvSpPr>
          <p:cNvPr id="316" name="PlaceHolder 3"/>
          <p:cNvSpPr>
            <a:spLocks noGrp="1"/>
          </p:cNvSpPr>
          <p:nvPr>
            <p:ph type="sldNum" idx="11"/>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noRot="1" noChangeAspect="1"/>
          </p:cNvSpPr>
          <p:nvPr>
            <p:ph type="sldImg"/>
          </p:nvPr>
        </p:nvSpPr>
        <p:spPr>
          <a:xfrm>
            <a:off x="215900" y="812800"/>
            <a:ext cx="7126288" cy="4008438"/>
          </a:xfrm>
          <a:prstGeom prst="rect">
            <a:avLst/>
          </a:prstGeom>
          <a:ln w="0">
            <a:noFill/>
          </a:ln>
        </p:spPr>
      </p:sp>
      <p:sp>
        <p:nvSpPr>
          <p:cNvPr id="318"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TomoyoCin:</a:t>
            </a:r>
            <a:endParaRPr lang="en-US" sz="1200" b="0" strike="noStrike" spc="-1">
              <a:latin typeface="Arial"/>
            </a:endParaRPr>
          </a:p>
          <a:p>
            <a:pPr marL="216000" indent="-216000">
              <a:lnSpc>
                <a:spcPct val="100000"/>
              </a:lnSpc>
              <a:buNone/>
            </a:pPr>
            <a:r>
              <a:rPr lang="en-SG" sz="1200" b="0" strike="noStrike" spc="-1">
                <a:latin typeface="Arial"/>
              </a:rPr>
              <a:t>That diagnosis motivates a revised address feature. A nominal historical price average mixes location with the market level of the years that happened to enter its history. The regression already has time controls, so this can duplicate market-time information.</a:t>
            </a:r>
            <a:endParaRPr lang="en-US" sz="1200" b="0" strike="noStrike" spc="-1">
              <a:latin typeface="Arial"/>
            </a:endParaRPr>
          </a:p>
          <a:p>
            <a:pPr marL="216000" indent="-216000">
              <a:lnSpc>
                <a:spcPct val="100000"/>
              </a:lnSpc>
              <a:buNone/>
            </a:pPr>
            <a:r>
              <a:rPr lang="en-SG" sz="1200" b="0" strike="noStrike" spc="-1">
                <a:latin typeface="Arial"/>
              </a:rPr>
              <a:t>We compare no address, the nominal encoding, a deflated encoding, and N3, which hierarchically encodes residual location information from an auxiliary quality-adjusted model. Every encoding for year Y uses only years before Y. We choose between the new encodings using 2024 validation MAE, before reading their 2025 result.</a:t>
            </a:r>
            <a:endParaRPr lang="en-US" sz="1200" b="0" strike="noStrike" spc="-1">
              <a:latin typeface="Arial"/>
            </a:endParaRPr>
          </a:p>
          <a:p>
            <a:pPr marL="216000" indent="-216000">
              <a:lnSpc>
                <a:spcPct val="100000"/>
              </a:lnSpc>
              <a:buNone/>
            </a:pPr>
            <a:r>
              <a:rPr lang="en-SG" sz="1200" b="0" strike="noStrike" spc="-1">
                <a:latin typeface="Arial"/>
              </a:rPr>
              <a:t>N3 reduces the feature's correlation with time from 0.195 to minus 0.001. On 2025, MAE is 47,232 with no address, 46,298 with the nominal address, and 31,606 with the residual address.</a:t>
            </a:r>
            <a:endParaRPr lang="en-US" sz="1200" b="0" strike="noStrike" spc="-1">
              <a:latin typeface="Arial"/>
            </a:endParaRPr>
          </a:p>
          <a:p>
            <a:pPr marL="216000" indent="-216000">
              <a:lnSpc>
                <a:spcPct val="100000"/>
              </a:lnSpc>
              <a:buNone/>
            </a:pPr>
            <a:r>
              <a:rPr lang="en-SG" sz="1200" b="0" strike="noStrike" spc="-1">
                <a:latin typeface="Arial"/>
              </a:rPr>
              <a:t>A four-year rolling-origin check adds an important qualification. N3 has the lowest MAE in three of four years, but no variant is consistently unbiased. From 2022 to 2024, even the no-address model underpredicts, showing that the main calibration failure belongs to extrapolating the time trend in a rising market. We select N3 for accuracy, not as a universal bias correction.</a:t>
            </a:r>
            <a:endParaRPr lang="en-US" sz="1200" b="0" strike="noStrike" spc="-1">
              <a:latin typeface="Arial"/>
            </a:endParaRPr>
          </a:p>
        </p:txBody>
      </p:sp>
      <p:sp>
        <p:nvSpPr>
          <p:cNvPr id="319" name="PlaceHolder 3"/>
          <p:cNvSpPr>
            <a:spLocks noGrp="1"/>
          </p:cNvSpPr>
          <p:nvPr>
            <p:ph type="sldNum" idx="12"/>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noRot="1" noChangeAspect="1"/>
          </p:cNvSpPr>
          <p:nvPr>
            <p:ph type="sldImg"/>
          </p:nvPr>
        </p:nvSpPr>
        <p:spPr>
          <a:xfrm>
            <a:off x="215900" y="812800"/>
            <a:ext cx="7126288" cy="4008438"/>
          </a:xfrm>
          <a:prstGeom prst="rect">
            <a:avLst/>
          </a:prstGeom>
          <a:ln w="0">
            <a:noFill/>
          </a:ln>
        </p:spPr>
      </p:sp>
      <p:sp>
        <p:nvSpPr>
          <p:cNvPr id="321"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TomoyoCin:</a:t>
            </a:r>
            <a:endParaRPr lang="en-US" sz="1200" b="0" strike="noStrike" spc="-1">
              <a:latin typeface="Arial"/>
            </a:endParaRPr>
          </a:p>
          <a:p>
            <a:pPr marL="216000" indent="-216000">
              <a:lnSpc>
                <a:spcPct val="100000"/>
              </a:lnSpc>
              <a:buNone/>
            </a:pPr>
            <a:r>
              <a:rPr lang="en-SG" sz="1200" b="0" strike="noStrike" spc="-1">
                <a:latin typeface="Arial"/>
              </a:rPr>
              <a:t>The address result also creates a governance question: how much public precision is necessary? A record is unique when no other record shares its Town, Street, Block, Flat Type, storey band, and month. At the released precision, 95.1 percent of cleaned records are unique on these quasi-identifiers.</a:t>
            </a:r>
            <a:endParaRPr lang="en-US" sz="1200" b="0" strike="noStrike" spc="-1">
              <a:latin typeface="Arial"/>
            </a:endParaRPr>
          </a:p>
          <a:p>
            <a:pPr marL="216000" indent="-216000">
              <a:lnSpc>
                <a:spcPct val="100000"/>
              </a:lnSpc>
              <a:buNone/>
            </a:pPr>
            <a:r>
              <a:rPr lang="en-SG" sz="1200" b="0" strike="noStrike" spc="-1">
                <a:latin typeface="Arial"/>
              </a:rPr>
              <a:t>If location stops at Street, uniqueness falls to 60.1 percent. The prediction test shows that Street-level residual encoding retains 74.5 percent of the full address accuracy gain. Adding Block reduces MAE by another 3,989 dollars, but raises uniqueness by 35 percentage points.</a:t>
            </a:r>
            <a:endParaRPr lang="en-US" sz="1200" b="0" strike="noStrike" spc="-1">
              <a:latin typeface="Arial"/>
            </a:endParaRPr>
          </a:p>
          <a:p>
            <a:pPr marL="216000" indent="-216000">
              <a:lnSpc>
                <a:spcPct val="100000"/>
              </a:lnSpc>
              <a:buNone/>
            </a:pPr>
            <a:r>
              <a:rPr lang="en-SG" sz="1200" b="0" strike="noStrike" spc="-1">
                <a:latin typeface="Arial"/>
              </a:rPr>
              <a:t>This does not decide publication policy by itself. It makes the trade-off measurable: Block carries a large privacy cost for a smaller marginal accuracy gain in this specification. Street-level release is therefore a defensible option for further policy evaluation.</a:t>
            </a:r>
            <a:endParaRPr lang="en-US" sz="1200" b="0" strike="noStrike" spc="-1">
              <a:latin typeface="Arial"/>
            </a:endParaRPr>
          </a:p>
        </p:txBody>
      </p:sp>
      <p:sp>
        <p:nvSpPr>
          <p:cNvPr id="322" name="PlaceHolder 3"/>
          <p:cNvSpPr>
            <a:spLocks noGrp="1"/>
          </p:cNvSpPr>
          <p:nvPr>
            <p:ph type="sldNum" idx="13"/>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noRot="1" noChangeAspect="1"/>
          </p:cNvSpPr>
          <p:nvPr>
            <p:ph type="sldImg"/>
          </p:nvPr>
        </p:nvSpPr>
        <p:spPr>
          <a:xfrm>
            <a:off x="216000" y="812520"/>
            <a:ext cx="7126920" cy="4008600"/>
          </a:xfrm>
          <a:prstGeom prst="rect">
            <a:avLst/>
          </a:prstGeom>
          <a:ln w="0">
            <a:noFill/>
          </a:ln>
        </p:spPr>
      </p:sp>
      <p:sp>
        <p:nvSpPr>
          <p:cNvPr id="324"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216000">
              <a:lnSpc>
                <a:spcPct val="100000"/>
              </a:lnSpc>
              <a:buNone/>
            </a:pPr>
            <a:r>
              <a:rPr lang="en-SG" sz="1200" b="0" strike="noStrike" spc="-1">
                <a:latin typeface="Arial"/>
              </a:rPr>
              <a:t>TomoyoCin:</a:t>
            </a:r>
            <a:endParaRPr lang="en-US" sz="1200" b="0" strike="noStrike" spc="-1">
              <a:latin typeface="Arial"/>
            </a:endParaRPr>
          </a:p>
          <a:p>
            <a:pPr marL="216000" indent="-216000">
              <a:lnSpc>
                <a:spcPct val="100000"/>
              </a:lnSpc>
              <a:buNone/>
            </a:pPr>
            <a:r>
              <a:rPr lang="en-SG" sz="1200" b="0" strike="noStrike" spc="-1">
                <a:latin typeface="Arial"/>
              </a:rPr>
              <a:t>Our main lesson is that preparation changes the claim we are able to make. A raw map suggested a PASIR RIS premium; comparable housing attributes reversed that interpretation. Consistent exclusion rules kept integrity issues out of every model. The prediction ladder showed a large aggregate gain, but subgroup analysis exposed Town-level failure. Time-normalizing the address feature then improved accuracy without pretending to solve all future market bias.</a:t>
            </a:r>
            <a:endParaRPr lang="en-US" sz="1200" b="0" strike="noStrike" spc="-1">
              <a:latin typeface="Arial"/>
            </a:endParaRPr>
          </a:p>
          <a:p>
            <a:pPr marL="216000" indent="-216000">
              <a:lnSpc>
                <a:spcPct val="100000"/>
              </a:lnSpc>
              <a:buNone/>
            </a:pPr>
            <a:r>
              <a:rPr lang="en-SG" sz="1200" b="0" strike="noStrike" spc="-1">
                <a:latin typeface="Arial"/>
              </a:rPr>
              <a:t>The evidence remains observational. Renovation, exact accessibility, view, buyer attributes, and detailed building condition are unavailable, and the maps use planning-area proxies.</a:t>
            </a:r>
            <a:endParaRPr lang="en-US" sz="1200" b="0" strike="noStrike" spc="-1">
              <a:latin typeface="Arial"/>
            </a:endParaRPr>
          </a:p>
          <a:p>
            <a:pPr marL="216000" indent="-216000">
              <a:lnSpc>
                <a:spcPct val="100000"/>
              </a:lnSpc>
              <a:buNone/>
            </a:pPr>
            <a:r>
              <a:rPr lang="en-SG" sz="1200" b="0" strike="noStrike" spc="-1">
                <a:latin typeface="Arial"/>
              </a:rPr>
              <a:t>Suggested closing line, one sentence per member:</a:t>
            </a:r>
            <a:endParaRPr lang="en-US" sz="1200" b="0" strike="noStrike" spc="-1">
              <a:latin typeface="Arial"/>
            </a:endParaRPr>
          </a:p>
          <a:p>
            <a:pPr marL="216000" indent="-216000">
              <a:lnSpc>
                <a:spcPct val="100000"/>
              </a:lnSpc>
              <a:buNone/>
            </a:pPr>
            <a:r>
              <a:rPr lang="en-SG" sz="1200" b="0" strike="noStrike" spc="-1">
                <a:latin typeface="Arial"/>
              </a:rPr>
              <a:t>ParrotG: Profiling turned apparently clean data into explicit, auditable decisions.</a:t>
            </a:r>
            <a:endParaRPr lang="en-US" sz="1200" b="0" strike="noStrike" spc="-1">
              <a:latin typeface="Arial"/>
            </a:endParaRPr>
          </a:p>
          <a:p>
            <a:pPr marL="216000" indent="-216000">
              <a:lnSpc>
                <a:spcPct val="100000"/>
              </a:lnSpc>
              <a:buNone/>
            </a:pPr>
            <a:r>
              <a:rPr lang="en-SG" sz="1200" b="0" strike="noStrike" spc="-1">
                <a:latin typeface="Arial"/>
              </a:rPr>
              <a:t>YuyaoWu61: Sequential controls revealed a composition reversal and the limits of attributing it to one feature.</a:t>
            </a:r>
            <a:endParaRPr lang="en-US" sz="1200" b="0" strike="noStrike" spc="-1">
              <a:latin typeface="Arial"/>
            </a:endParaRPr>
          </a:p>
          <a:p>
            <a:pPr marL="216000" indent="-216000">
              <a:lnSpc>
                <a:spcPct val="100000"/>
              </a:lnSpc>
              <a:buNone/>
            </a:pPr>
            <a:r>
              <a:rPr lang="en-SG" sz="1200" b="0" strike="noStrike" spc="-1">
                <a:latin typeface="Arial"/>
              </a:rPr>
              <a:t>drury: Error analysis showed why overall MAE cannot stand in for reliability.</a:t>
            </a:r>
            <a:endParaRPr lang="en-US" sz="1200" b="0" strike="noStrike" spc="-1">
              <a:latin typeface="Arial"/>
            </a:endParaRPr>
          </a:p>
          <a:p>
            <a:pPr marL="216000" indent="-216000">
              <a:lnSpc>
                <a:spcPct val="100000"/>
              </a:lnSpc>
              <a:buNone/>
            </a:pPr>
            <a:r>
              <a:rPr lang="en-SG" sz="1200" b="0" strike="noStrike" spc="-1">
                <a:latin typeface="Arial"/>
              </a:rPr>
              <a:t>TomoyoCin: Validation and governance analysis converted that failure into a better feature and a measurable privacy trade-off.</a:t>
            </a:r>
            <a:endParaRPr lang="en-US" sz="1200" b="0" strike="noStrike" spc="-1">
              <a:latin typeface="Arial"/>
            </a:endParaRPr>
          </a:p>
        </p:txBody>
      </p:sp>
      <p:sp>
        <p:nvSpPr>
          <p:cNvPr id="325" name="PlaceHolder 3"/>
          <p:cNvSpPr>
            <a:spLocks noGrp="1"/>
          </p:cNvSpPr>
          <p:nvPr>
            <p:ph type="sldNum" idx="14"/>
          </p:nvPr>
        </p:nvSpPr>
        <p:spPr>
          <a:xfrm>
            <a:off x="4278960" y="10157400"/>
            <a:ext cx="3280320" cy="533880"/>
          </a:xfrm>
          <a:prstGeom prst="rect">
            <a:avLst/>
          </a:prstGeom>
          <a:noFill/>
          <a:ln w="0">
            <a:noFill/>
          </a:ln>
        </p:spPr>
        <p:txBody>
          <a:bodyPr lIns="0" tIns="0" rIns="0" bIns="0" anchor="b">
            <a:noAutofit/>
          </a:bodyPr>
          <a:lstStyle>
            <a:lvl1pPr algn="r">
              <a:lnSpc>
                <a:spcPct val="100000"/>
              </a:lnSpc>
              <a:buNone/>
              <a:defRPr lang="en-US" sz="1400" b="0" strike="noStrike" spc="-1">
                <a:latin typeface="Times New Roman"/>
              </a:defRPr>
            </a:lvl1pPr>
          </a:lstStyle>
          <a:p>
            <a:pPr algn="r">
              <a:lnSpc>
                <a:spcPct val="100000"/>
              </a:lnSpc>
              <a:buNone/>
            </a:pPr>
            <a:r>
              <a:rPr lang="en-US" sz="1400" b="0" strike="noStrike" spc="-1">
                <a:latin typeface="Times New Roman"/>
              </a:rPr>
              <a:t>11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73238"/>
        </a:solidFill>
        <a:effectLst/>
      </p:bgPr>
    </p:bg>
    <p:spTree>
      <p:nvGrpSpPr>
        <p:cNvPr id="1" name=""/>
        <p:cNvGrpSpPr/>
        <p:nvPr/>
      </p:nvGrpSpPr>
      <p:grpSpPr>
        <a:xfrm>
          <a:off x="0" y="0"/>
          <a:ext cx="0" cy="0"/>
          <a:chOff x="0" y="0"/>
          <a:chExt cx="0" cy="0"/>
        </a:xfrm>
      </p:grpSpPr>
      <p:sp>
        <p:nvSpPr>
          <p:cNvPr id="44" name="Text 2"/>
          <p:cNvSpPr/>
          <p:nvPr/>
        </p:nvSpPr>
        <p:spPr>
          <a:xfrm>
            <a:off x="548640" y="411480"/>
            <a:ext cx="36572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CA6003  ·  HDB RESALE  ·  2017–2025</a:t>
            </a:r>
            <a:endParaRPr lang="en-US" sz="1100" b="0" strike="noStrike" spc="-1">
              <a:latin typeface="Arial"/>
            </a:endParaRPr>
          </a:p>
        </p:txBody>
      </p:sp>
      <p:sp>
        <p:nvSpPr>
          <p:cNvPr id="45" name="Text 3"/>
          <p:cNvSpPr/>
          <p:nvPr/>
        </p:nvSpPr>
        <p:spPr>
          <a:xfrm>
            <a:off x="548640" y="960120"/>
            <a:ext cx="658332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3400" b="1" strike="noStrike" spc="-1">
                <a:solidFill>
                  <a:srgbClr val="FFFFFF"/>
                </a:solidFill>
                <a:latin typeface="Aptos"/>
              </a:rPr>
              <a:t>When does a town</a:t>
            </a:r>
            <a:endParaRPr lang="en-US" sz="3400" b="0" strike="noStrike" spc="-1">
              <a:latin typeface="Arial"/>
            </a:endParaRPr>
          </a:p>
          <a:p>
            <a:pPr>
              <a:lnSpc>
                <a:spcPct val="100000"/>
              </a:lnSpc>
              <a:buNone/>
            </a:pPr>
            <a:r>
              <a:rPr lang="en-SG" sz="3400" b="1" strike="noStrike" spc="-1">
                <a:solidFill>
                  <a:srgbClr val="FFFFFF"/>
                </a:solidFill>
                <a:latin typeface="Aptos"/>
              </a:rPr>
              <a:t>premium disappear?</a:t>
            </a:r>
            <a:endParaRPr lang="en-US" sz="3400" b="0" strike="noStrike" spc="-1">
              <a:latin typeface="Arial"/>
            </a:endParaRPr>
          </a:p>
        </p:txBody>
      </p:sp>
      <p:sp>
        <p:nvSpPr>
          <p:cNvPr id="46" name="Text 4"/>
          <p:cNvSpPr/>
          <p:nvPr/>
        </p:nvSpPr>
        <p:spPr>
          <a:xfrm>
            <a:off x="548640" y="2395800"/>
            <a:ext cx="5211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50" b="0" strike="noStrike" spc="-1">
                <a:solidFill>
                  <a:srgbClr val="CFDEDA"/>
                </a:solidFill>
                <a:latin typeface="Aptos"/>
              </a:rPr>
              <a:t>Housing composition, prediction reliability</a:t>
            </a:r>
            <a:endParaRPr lang="en-US" sz="1750" b="0" strike="noStrike" spc="-1">
              <a:latin typeface="Arial"/>
            </a:endParaRPr>
          </a:p>
          <a:p>
            <a:pPr>
              <a:lnSpc>
                <a:spcPct val="100000"/>
              </a:lnSpc>
              <a:buNone/>
            </a:pPr>
            <a:r>
              <a:rPr lang="en-SG" sz="1750" b="0" strike="noStrike" spc="-1">
                <a:solidFill>
                  <a:srgbClr val="CFDEDA"/>
                </a:solidFill>
                <a:latin typeface="Aptos"/>
              </a:rPr>
              <a:t>and data governance</a:t>
            </a:r>
            <a:endParaRPr lang="en-US" sz="1750" b="0" strike="noStrike" spc="-1">
              <a:latin typeface="Arial"/>
            </a:endParaRPr>
          </a:p>
        </p:txBody>
      </p:sp>
      <p:sp>
        <p:nvSpPr>
          <p:cNvPr id="47" name="Panel 5"/>
          <p:cNvSpPr/>
          <p:nvPr/>
        </p:nvSpPr>
        <p:spPr>
          <a:xfrm>
            <a:off x="548640" y="3657600"/>
            <a:ext cx="4571640" cy="1096920"/>
          </a:xfrm>
          <a:prstGeom prst="roundRect">
            <a:avLst>
              <a:gd name="adj" fmla="val 16667"/>
            </a:avLst>
          </a:prstGeom>
          <a:solidFill>
            <a:srgbClr val="23454A"/>
          </a:solidFill>
          <a:ln w="12700">
            <a:solidFill>
              <a:srgbClr val="3E6668"/>
            </a:solidFill>
            <a:round/>
          </a:ln>
        </p:spPr>
        <p:style>
          <a:lnRef idx="0">
            <a:scrgbClr r="0" g="0" b="0"/>
          </a:lnRef>
          <a:fillRef idx="0">
            <a:scrgbClr r="0" g="0" b="0"/>
          </a:fillRef>
          <a:effectRef idx="0">
            <a:scrgbClr r="0" g="0" b="0"/>
          </a:effectRef>
          <a:fontRef idx="minor"/>
        </p:style>
      </p:sp>
      <p:sp>
        <p:nvSpPr>
          <p:cNvPr id="48" name="Text 6"/>
          <p:cNvSpPr/>
          <p:nvPr/>
        </p:nvSpPr>
        <p:spPr>
          <a:xfrm>
            <a:off x="749880" y="3813120"/>
            <a:ext cx="1645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700" b="1" strike="noStrike" spc="-1">
                <a:solidFill>
                  <a:srgbClr val="E4A64A"/>
                </a:solidFill>
                <a:latin typeface="Aptos"/>
              </a:rPr>
              <a:t>+26.0%</a:t>
            </a:r>
            <a:endParaRPr lang="en-US" sz="2700" b="0" strike="noStrike" spc="-1">
              <a:latin typeface="Arial"/>
            </a:endParaRPr>
          </a:p>
        </p:txBody>
      </p:sp>
      <p:sp>
        <p:nvSpPr>
          <p:cNvPr id="49" name="Text 7"/>
          <p:cNvSpPr/>
          <p:nvPr/>
        </p:nvSpPr>
        <p:spPr>
          <a:xfrm>
            <a:off x="2304360" y="3840480"/>
            <a:ext cx="502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100000"/>
              </a:lnSpc>
              <a:buNone/>
            </a:pPr>
            <a:r>
              <a:rPr lang="en-SG" sz="2300" b="1" strike="noStrike" spc="-1">
                <a:solidFill>
                  <a:srgbClr val="FFFFFF"/>
                </a:solidFill>
                <a:latin typeface="Aptos"/>
              </a:rPr>
              <a:t>→</a:t>
            </a:r>
            <a:endParaRPr lang="en-US" sz="2300" b="0" strike="noStrike" spc="-1">
              <a:latin typeface="Arial"/>
            </a:endParaRPr>
          </a:p>
        </p:txBody>
      </p:sp>
      <p:sp>
        <p:nvSpPr>
          <p:cNvPr id="50" name="Text 8"/>
          <p:cNvSpPr/>
          <p:nvPr/>
        </p:nvSpPr>
        <p:spPr>
          <a:xfrm>
            <a:off x="2816280" y="3813120"/>
            <a:ext cx="1737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700" b="1" strike="noStrike" spc="-1">
                <a:solidFill>
                  <a:srgbClr val="D6654F"/>
                </a:solidFill>
                <a:latin typeface="Aptos"/>
              </a:rPr>
              <a:t>−12.5%</a:t>
            </a:r>
            <a:endParaRPr lang="en-US" sz="2700" b="0" strike="noStrike" spc="-1">
              <a:latin typeface="Arial"/>
            </a:endParaRPr>
          </a:p>
        </p:txBody>
      </p:sp>
      <p:sp>
        <p:nvSpPr>
          <p:cNvPr id="51" name="Text 9"/>
          <p:cNvSpPr/>
          <p:nvPr/>
        </p:nvSpPr>
        <p:spPr>
          <a:xfrm>
            <a:off x="749880" y="4279320"/>
            <a:ext cx="4023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CFDEDA"/>
                </a:solidFill>
                <a:latin typeface="Aptos"/>
              </a:rPr>
              <a:t>PASIR RIS relative to BEDOK: M0 → M4</a:t>
            </a:r>
            <a:endParaRPr lang="en-US" sz="1050" b="0" strike="noStrike" spc="-1">
              <a:latin typeface="Arial"/>
            </a:endParaRPr>
          </a:p>
        </p:txBody>
      </p:sp>
      <p:sp>
        <p:nvSpPr>
          <p:cNvPr id="52" name="Text 10"/>
          <p:cNvSpPr/>
          <p:nvPr/>
        </p:nvSpPr>
        <p:spPr>
          <a:xfrm>
            <a:off x="548640" y="5230440"/>
            <a:ext cx="5394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50" b="0" strike="noStrike" spc="-1">
                <a:solidFill>
                  <a:srgbClr val="FFFFFF"/>
                </a:solidFill>
                <a:latin typeface="Aptos"/>
              </a:rPr>
              <a:t>222,066 resale registrations  ·  Evidence before complexity</a:t>
            </a:r>
            <a:endParaRPr lang="en-US" sz="1150" b="0" strike="noStrike" spc="-1">
              <a:latin typeface="Arial"/>
            </a:endParaRPr>
          </a:p>
        </p:txBody>
      </p:sp>
      <p:pic>
        <p:nvPicPr>
          <p:cNvPr id="53" name="Figure 11" descr="Town premium maps before and after housing controls"/>
          <p:cNvPicPr/>
          <p:nvPr/>
        </p:nvPicPr>
        <p:blipFill>
          <a:blip r:embed="rId3"/>
          <a:stretch/>
        </p:blipFill>
        <p:spPr>
          <a:xfrm>
            <a:off x="6080760" y="2314080"/>
            <a:ext cx="5531760" cy="1726560"/>
          </a:xfrm>
          <a:prstGeom prst="rect">
            <a:avLst/>
          </a:prstGeom>
          <a:ln w="0">
            <a:noFill/>
          </a:ln>
        </p:spPr>
      </p:pic>
      <p:sp>
        <p:nvSpPr>
          <p:cNvPr id="54" name="Text 12"/>
          <p:cNvSpPr/>
          <p:nvPr/>
        </p:nvSpPr>
        <p:spPr>
          <a:xfrm>
            <a:off x="10881360" y="5925240"/>
            <a:ext cx="50256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A9BEBA"/>
                </a:solidFill>
                <a:latin typeface="Aptos"/>
              </a:rPr>
              <a:t>01</a:t>
            </a:r>
            <a:endParaRPr lang="en-US" sz="95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55"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PROFILE → DECIDE → AUDIT</a:t>
            </a:r>
            <a:endParaRPr lang="en-US" sz="1050" b="0" strike="noStrike" spc="-1">
              <a:latin typeface="Arial"/>
            </a:endParaRPr>
          </a:p>
        </p:txBody>
      </p:sp>
      <p:sp>
        <p:nvSpPr>
          <p:cNvPr id="56"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Data quality: small counts, mandatory decisions</a:t>
            </a:r>
            <a:endParaRPr lang="en-US" sz="2700" b="0" strike="noStrike" spc="-1">
              <a:latin typeface="Arial"/>
            </a:endParaRPr>
          </a:p>
        </p:txBody>
      </p:sp>
      <p:sp>
        <p:nvSpPr>
          <p:cNvPr id="58"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59"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02</a:t>
            </a:r>
            <a:endParaRPr lang="en-US" sz="950" b="0" strike="noStrike" spc="-1">
              <a:latin typeface="Arial"/>
            </a:endParaRPr>
          </a:p>
        </p:txBody>
      </p:sp>
      <p:sp>
        <p:nvSpPr>
          <p:cNvPr id="60" name="Metric 7"/>
          <p:cNvSpPr/>
          <p:nvPr/>
        </p:nvSpPr>
        <p:spPr>
          <a:xfrm>
            <a:off x="502920" y="1261800"/>
            <a:ext cx="23313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61" name="Text 8"/>
          <p:cNvSpPr/>
          <p:nvPr/>
        </p:nvSpPr>
        <p:spPr>
          <a:xfrm>
            <a:off x="640080" y="1344240"/>
            <a:ext cx="2057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1D5C59"/>
                </a:solidFill>
                <a:latin typeface="Aptos"/>
              </a:rPr>
              <a:t>222,066</a:t>
            </a:r>
            <a:endParaRPr lang="en-US" sz="2300" b="0" strike="noStrike" spc="-1">
              <a:latin typeface="Arial"/>
            </a:endParaRPr>
          </a:p>
        </p:txBody>
      </p:sp>
      <p:sp>
        <p:nvSpPr>
          <p:cNvPr id="62" name="Text 9"/>
          <p:cNvSpPr/>
          <p:nvPr/>
        </p:nvSpPr>
        <p:spPr>
          <a:xfrm>
            <a:off x="640080" y="1755720"/>
            <a:ext cx="2057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SOURCE ROWS</a:t>
            </a:r>
            <a:endParaRPr lang="en-US" sz="1050" b="0" strike="noStrike" spc="-1">
              <a:latin typeface="Arial"/>
            </a:endParaRPr>
          </a:p>
        </p:txBody>
      </p:sp>
      <p:sp>
        <p:nvSpPr>
          <p:cNvPr id="63" name="Metric 10"/>
          <p:cNvSpPr/>
          <p:nvPr/>
        </p:nvSpPr>
        <p:spPr>
          <a:xfrm>
            <a:off x="2971800" y="1261800"/>
            <a:ext cx="23313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64" name="Text 11"/>
          <p:cNvSpPr/>
          <p:nvPr/>
        </p:nvSpPr>
        <p:spPr>
          <a:xfrm>
            <a:off x="3108960" y="1344240"/>
            <a:ext cx="2057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D6654F"/>
                </a:solidFill>
                <a:latin typeface="Aptos"/>
              </a:rPr>
              <a:t>−437</a:t>
            </a:r>
            <a:endParaRPr lang="en-US" sz="2300" b="0" strike="noStrike" spc="-1">
              <a:latin typeface="Arial"/>
            </a:endParaRPr>
          </a:p>
        </p:txBody>
      </p:sp>
      <p:sp>
        <p:nvSpPr>
          <p:cNvPr id="65" name="Text 12"/>
          <p:cNvSpPr/>
          <p:nvPr/>
        </p:nvSpPr>
        <p:spPr>
          <a:xfrm>
            <a:off x="3108960" y="1755720"/>
            <a:ext cx="2057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RESOLVED EXCLUSIONS</a:t>
            </a:r>
            <a:endParaRPr lang="en-US" sz="1050" b="0" strike="noStrike" spc="-1">
              <a:latin typeface="Arial"/>
            </a:endParaRPr>
          </a:p>
        </p:txBody>
      </p:sp>
      <p:sp>
        <p:nvSpPr>
          <p:cNvPr id="66" name="Metric 13"/>
          <p:cNvSpPr/>
          <p:nvPr/>
        </p:nvSpPr>
        <p:spPr>
          <a:xfrm>
            <a:off x="5440680" y="1261800"/>
            <a:ext cx="23313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67" name="Text 14"/>
          <p:cNvSpPr/>
          <p:nvPr/>
        </p:nvSpPr>
        <p:spPr>
          <a:xfrm>
            <a:off x="5577840" y="1344240"/>
            <a:ext cx="2057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1D5C59"/>
                </a:solidFill>
                <a:latin typeface="Aptos"/>
              </a:rPr>
              <a:t>221,629</a:t>
            </a:r>
            <a:endParaRPr lang="en-US" sz="2300" b="0" strike="noStrike" spc="-1">
              <a:latin typeface="Arial"/>
            </a:endParaRPr>
          </a:p>
        </p:txBody>
      </p:sp>
      <p:sp>
        <p:nvSpPr>
          <p:cNvPr id="68" name="Text 15"/>
          <p:cNvSpPr/>
          <p:nvPr/>
        </p:nvSpPr>
        <p:spPr>
          <a:xfrm>
            <a:off x="5577840" y="1755720"/>
            <a:ext cx="2057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ANALYTICAL ROWS</a:t>
            </a:r>
            <a:endParaRPr lang="en-US" sz="1050" b="0" strike="noStrike" spc="-1">
              <a:latin typeface="Arial"/>
            </a:endParaRPr>
          </a:p>
        </p:txBody>
      </p:sp>
      <p:sp>
        <p:nvSpPr>
          <p:cNvPr id="69" name="Metric 16"/>
          <p:cNvSpPr/>
          <p:nvPr/>
        </p:nvSpPr>
        <p:spPr>
          <a:xfrm>
            <a:off x="7909560" y="1261800"/>
            <a:ext cx="23313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70" name="Text 17"/>
          <p:cNvSpPr/>
          <p:nvPr/>
        </p:nvSpPr>
        <p:spPr>
          <a:xfrm>
            <a:off x="8046720" y="1344240"/>
            <a:ext cx="2057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E4A64A"/>
                </a:solidFill>
                <a:latin typeface="Aptos"/>
              </a:rPr>
              <a:t>99.803%</a:t>
            </a:r>
            <a:endParaRPr lang="en-US" sz="2300" b="0" strike="noStrike" spc="-1">
              <a:latin typeface="Arial"/>
            </a:endParaRPr>
          </a:p>
        </p:txBody>
      </p:sp>
      <p:sp>
        <p:nvSpPr>
          <p:cNvPr id="71" name="Text 18"/>
          <p:cNvSpPr/>
          <p:nvPr/>
        </p:nvSpPr>
        <p:spPr>
          <a:xfrm>
            <a:off x="8046720" y="1755720"/>
            <a:ext cx="2057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SOURCE RETAINED</a:t>
            </a:r>
            <a:endParaRPr lang="en-US" sz="1050" b="0" strike="noStrike" spc="-1">
              <a:latin typeface="Arial"/>
            </a:endParaRPr>
          </a:p>
        </p:txBody>
      </p:sp>
      <p:sp>
        <p:nvSpPr>
          <p:cNvPr id="72" name="Process step 19"/>
          <p:cNvSpPr/>
          <p:nvPr/>
        </p:nvSpPr>
        <p:spPr>
          <a:xfrm>
            <a:off x="594360" y="2487240"/>
            <a:ext cx="3309840" cy="658080"/>
          </a:xfrm>
          <a:prstGeom prst="roundRect">
            <a:avLst>
              <a:gd name="adj" fmla="val 16667"/>
            </a:avLst>
          </a:prstGeom>
          <a:solidFill>
            <a:srgbClr val="DDE9E5"/>
          </a:solidFill>
          <a:ln w="0">
            <a:noFill/>
          </a:ln>
        </p:spPr>
        <p:style>
          <a:lnRef idx="0">
            <a:scrgbClr r="0" g="0" b="0"/>
          </a:lnRef>
          <a:fillRef idx="0">
            <a:scrgbClr r="0" g="0" b="0"/>
          </a:fillRef>
          <a:effectRef idx="0">
            <a:scrgbClr r="0" g="0" b="0"/>
          </a:effectRef>
          <a:fontRef idx="minor"/>
        </p:style>
      </p:sp>
      <p:sp>
        <p:nvSpPr>
          <p:cNvPr id="73" name="Text 20"/>
          <p:cNvSpPr/>
          <p:nvPr/>
        </p:nvSpPr>
        <p:spPr>
          <a:xfrm>
            <a:off x="704160" y="2606040"/>
            <a:ext cx="4111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00" b="1" strike="noStrike" spc="-1">
                <a:solidFill>
                  <a:srgbClr val="1D5C59"/>
                </a:solidFill>
                <a:latin typeface="Aptos"/>
              </a:rPr>
              <a:t>01</a:t>
            </a:r>
            <a:endParaRPr lang="en-US" sz="1200" b="0" strike="noStrike" spc="-1">
              <a:latin typeface="Arial"/>
            </a:endParaRPr>
          </a:p>
        </p:txBody>
      </p:sp>
      <p:sp>
        <p:nvSpPr>
          <p:cNvPr id="74" name="Text 21"/>
          <p:cNvSpPr/>
          <p:nvPr/>
        </p:nvSpPr>
        <p:spPr>
          <a:xfrm>
            <a:off x="1106280" y="2587680"/>
            <a:ext cx="2688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Literal and type checks</a:t>
            </a:r>
            <a:endParaRPr lang="en-US" sz="1400" b="0" strike="noStrike" spc="-1">
              <a:latin typeface="Arial"/>
            </a:endParaRPr>
          </a:p>
        </p:txBody>
      </p:sp>
      <p:sp>
        <p:nvSpPr>
          <p:cNvPr id="75" name="Text 22"/>
          <p:cNvSpPr/>
          <p:nvPr/>
        </p:nvSpPr>
        <p:spPr>
          <a:xfrm>
            <a:off x="768240" y="3273480"/>
            <a:ext cx="297144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600" b="0" strike="noStrike" spc="-1">
                <a:solidFill>
                  <a:srgbClr val="173238"/>
                </a:solidFill>
                <a:latin typeface="Aptos"/>
              </a:rPr>
              <a:t>No missing values</a:t>
            </a:r>
            <a:endParaRPr lang="en-US" sz="1600" b="0" strike="noStrike" spc="-1">
              <a:latin typeface="Arial"/>
            </a:endParaRPr>
          </a:p>
          <a:p>
            <a:pPr>
              <a:lnSpc>
                <a:spcPct val="100000"/>
              </a:lnSpc>
              <a:buNone/>
            </a:pPr>
            <a:r>
              <a:rPr lang="en-SG" sz="1600" b="0" strike="noStrike" spc="-1">
                <a:solidFill>
                  <a:srgbClr val="173238"/>
                </a:solidFill>
                <a:latin typeface="Aptos"/>
              </a:rPr>
              <a:t>No blank or padded labels</a:t>
            </a:r>
            <a:endParaRPr lang="en-US" sz="1600" b="0" strike="noStrike" spc="-1">
              <a:latin typeface="Arial"/>
            </a:endParaRPr>
          </a:p>
          <a:p>
            <a:pPr>
              <a:lnSpc>
                <a:spcPct val="100000"/>
              </a:lnSpc>
              <a:buNone/>
            </a:pPr>
            <a:r>
              <a:rPr lang="en-SG" sz="1600" b="0" strike="noStrike" spc="-1">
                <a:solidFill>
                  <a:srgbClr val="173238"/>
                </a:solidFill>
                <a:latin typeface="Aptos"/>
              </a:rPr>
              <a:t>No numeric parse failures</a:t>
            </a:r>
            <a:endParaRPr lang="en-US" sz="1600" b="0" strike="noStrike" spc="-1">
              <a:latin typeface="Arial"/>
            </a:endParaRPr>
          </a:p>
        </p:txBody>
      </p:sp>
      <p:sp>
        <p:nvSpPr>
          <p:cNvPr id="76" name="Process step 23"/>
          <p:cNvSpPr/>
          <p:nvPr/>
        </p:nvSpPr>
        <p:spPr>
          <a:xfrm>
            <a:off x="4178880" y="2487240"/>
            <a:ext cx="3309840" cy="658080"/>
          </a:xfrm>
          <a:prstGeom prst="roundRect">
            <a:avLst>
              <a:gd name="adj" fmla="val 16667"/>
            </a:avLst>
          </a:prstGeom>
          <a:solidFill>
            <a:srgbClr val="F4DFD9"/>
          </a:solidFill>
          <a:ln w="0">
            <a:noFill/>
          </a:ln>
        </p:spPr>
        <p:style>
          <a:lnRef idx="0">
            <a:scrgbClr r="0" g="0" b="0"/>
          </a:lnRef>
          <a:fillRef idx="0">
            <a:scrgbClr r="0" g="0" b="0"/>
          </a:fillRef>
          <a:effectRef idx="0">
            <a:scrgbClr r="0" g="0" b="0"/>
          </a:effectRef>
          <a:fontRef idx="minor"/>
        </p:style>
      </p:sp>
      <p:sp>
        <p:nvSpPr>
          <p:cNvPr id="77" name="Text 24"/>
          <p:cNvSpPr/>
          <p:nvPr/>
        </p:nvSpPr>
        <p:spPr>
          <a:xfrm>
            <a:off x="4288680" y="2606040"/>
            <a:ext cx="4111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00" b="1" strike="noStrike" spc="-1">
                <a:solidFill>
                  <a:srgbClr val="D6654F"/>
                </a:solidFill>
                <a:latin typeface="Aptos"/>
              </a:rPr>
              <a:t>02</a:t>
            </a:r>
            <a:endParaRPr lang="en-US" sz="1200" b="0" strike="noStrike" spc="-1">
              <a:latin typeface="Arial"/>
            </a:endParaRPr>
          </a:p>
        </p:txBody>
      </p:sp>
      <p:sp>
        <p:nvSpPr>
          <p:cNvPr id="78" name="Text 25"/>
          <p:cNvSpPr/>
          <p:nvPr/>
        </p:nvSpPr>
        <p:spPr>
          <a:xfrm>
            <a:off x="4690800" y="2587680"/>
            <a:ext cx="2688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Evidence-based exclusions</a:t>
            </a:r>
            <a:endParaRPr lang="en-US" sz="1400" b="0" strike="noStrike" spc="-1">
              <a:latin typeface="Arial"/>
            </a:endParaRPr>
          </a:p>
        </p:txBody>
      </p:sp>
      <p:sp>
        <p:nvSpPr>
          <p:cNvPr id="79" name="Text 26"/>
          <p:cNvSpPr/>
          <p:nvPr/>
        </p:nvSpPr>
        <p:spPr>
          <a:xfrm>
            <a:off x="4352400" y="3273480"/>
            <a:ext cx="297144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600" b="0" strike="noStrike" spc="-1">
                <a:solidFill>
                  <a:srgbClr val="173238"/>
                </a:solidFill>
                <a:latin typeface="Aptos"/>
              </a:rPr>
              <a:t>309 duplicate excess rows</a:t>
            </a:r>
            <a:endParaRPr lang="en-US" sz="1600" b="0" strike="noStrike" spc="-1">
              <a:latin typeface="Arial"/>
            </a:endParaRPr>
          </a:p>
          <a:p>
            <a:pPr>
              <a:lnSpc>
                <a:spcPct val="100000"/>
              </a:lnSpc>
              <a:buNone/>
            </a:pPr>
            <a:r>
              <a:rPr lang="en-SG" sz="1600" b="0" strike="noStrike" spc="-1">
                <a:solidFill>
                  <a:srgbClr val="173238"/>
                </a:solidFill>
                <a:latin typeface="Aptos"/>
              </a:rPr>
              <a:t>128 unresolved lease records</a:t>
            </a:r>
            <a:endParaRPr lang="en-US" sz="1600" b="0" strike="noStrike" spc="-1">
              <a:latin typeface="Arial"/>
            </a:endParaRPr>
          </a:p>
          <a:p>
            <a:pPr>
              <a:lnSpc>
                <a:spcPct val="100000"/>
              </a:lnSpc>
              <a:buNone/>
            </a:pPr>
            <a:r>
              <a:rPr lang="en-SG" sz="1600" b="0" strike="noStrike" spc="-1">
                <a:solidFill>
                  <a:srgbClr val="173238"/>
                </a:solidFill>
                <a:latin typeface="Aptos"/>
              </a:rPr>
              <a:t>One representative per group</a:t>
            </a:r>
            <a:endParaRPr lang="en-US" sz="1600" b="0" strike="noStrike" spc="-1">
              <a:latin typeface="Arial"/>
            </a:endParaRPr>
          </a:p>
        </p:txBody>
      </p:sp>
      <p:sp>
        <p:nvSpPr>
          <p:cNvPr id="80" name="Process step 27"/>
          <p:cNvSpPr/>
          <p:nvPr/>
        </p:nvSpPr>
        <p:spPr>
          <a:xfrm>
            <a:off x="7763400" y="2487240"/>
            <a:ext cx="3309840" cy="658080"/>
          </a:xfrm>
          <a:prstGeom prst="roundRect">
            <a:avLst>
              <a:gd name="adj" fmla="val 16667"/>
            </a:avLst>
          </a:prstGeom>
          <a:solidFill>
            <a:srgbClr val="DDE9E5"/>
          </a:solidFill>
          <a:ln w="0">
            <a:noFill/>
          </a:ln>
        </p:spPr>
        <p:style>
          <a:lnRef idx="0">
            <a:scrgbClr r="0" g="0" b="0"/>
          </a:lnRef>
          <a:fillRef idx="0">
            <a:scrgbClr r="0" g="0" b="0"/>
          </a:fillRef>
          <a:effectRef idx="0">
            <a:scrgbClr r="0" g="0" b="0"/>
          </a:effectRef>
          <a:fontRef idx="minor"/>
        </p:style>
      </p:sp>
      <p:sp>
        <p:nvSpPr>
          <p:cNvPr id="81" name="Text 28"/>
          <p:cNvSpPr/>
          <p:nvPr/>
        </p:nvSpPr>
        <p:spPr>
          <a:xfrm>
            <a:off x="7872840" y="2606040"/>
            <a:ext cx="4111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00" b="1" strike="noStrike" spc="-1">
                <a:solidFill>
                  <a:srgbClr val="1D5C59"/>
                </a:solidFill>
                <a:latin typeface="Aptos"/>
              </a:rPr>
              <a:t>03</a:t>
            </a:r>
            <a:endParaRPr lang="en-US" sz="1200" b="0" strike="noStrike" spc="-1">
              <a:latin typeface="Arial"/>
            </a:endParaRPr>
          </a:p>
        </p:txBody>
      </p:sp>
      <p:sp>
        <p:nvSpPr>
          <p:cNvPr id="82" name="Text 29"/>
          <p:cNvSpPr/>
          <p:nvPr/>
        </p:nvSpPr>
        <p:spPr>
          <a:xfrm>
            <a:off x="8275320" y="2587680"/>
            <a:ext cx="2688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Keep valid market tails</a:t>
            </a:r>
            <a:endParaRPr lang="en-US" sz="1400" b="0" strike="noStrike" spc="-1">
              <a:latin typeface="Arial"/>
            </a:endParaRPr>
          </a:p>
        </p:txBody>
      </p:sp>
      <p:sp>
        <p:nvSpPr>
          <p:cNvPr id="83" name="Text 30"/>
          <p:cNvSpPr/>
          <p:nvPr/>
        </p:nvSpPr>
        <p:spPr>
          <a:xfrm>
            <a:off x="7936920" y="3273480"/>
            <a:ext cx="297144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600" b="0" strike="noStrike" spc="-1">
                <a:solidFill>
                  <a:srgbClr val="173238"/>
                </a:solidFill>
                <a:latin typeface="Aptos"/>
              </a:rPr>
              <a:t>No automatic IQR deletion</a:t>
            </a:r>
            <a:endParaRPr lang="en-US" sz="1600" b="0" strike="noStrike" spc="-1">
              <a:latin typeface="Arial"/>
            </a:endParaRPr>
          </a:p>
          <a:p>
            <a:pPr>
              <a:lnSpc>
                <a:spcPct val="100000"/>
              </a:lnSpc>
              <a:buNone/>
            </a:pPr>
            <a:r>
              <a:rPr lang="en-SG" sz="1600" b="0" strike="noStrike" spc="-1">
                <a:solidFill>
                  <a:srgbClr val="173238"/>
                </a:solidFill>
                <a:latin typeface="Aptos"/>
              </a:rPr>
              <a:t>High-price MAE worsens</a:t>
            </a:r>
            <a:endParaRPr lang="en-US" sz="1600" b="0" strike="noStrike" spc="-1">
              <a:latin typeface="Arial"/>
            </a:endParaRPr>
          </a:p>
          <a:p>
            <a:pPr>
              <a:lnSpc>
                <a:spcPct val="100000"/>
              </a:lnSpc>
              <a:buNone/>
            </a:pPr>
            <a:r>
              <a:rPr lang="en-SG" sz="1600" b="0" strike="noStrike" spc="-1">
                <a:solidFill>
                  <a:srgbClr val="173238"/>
                </a:solidFill>
                <a:latin typeface="Aptos"/>
              </a:rPr>
              <a:t>by SGD 4,009 after trimming</a:t>
            </a:r>
            <a:endParaRPr lang="en-US" sz="1600" b="0" strike="noStrike" spc="-1">
              <a:latin typeface="Arial"/>
            </a:endParaRPr>
          </a:p>
        </p:txBody>
      </p:sp>
      <p:sp>
        <p:nvSpPr>
          <p:cNvPr id="84" name="Panel 31"/>
          <p:cNvSpPr/>
          <p:nvPr/>
        </p:nvSpPr>
        <p:spPr>
          <a:xfrm>
            <a:off x="594360" y="4956120"/>
            <a:ext cx="10469520" cy="65808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85" name="Text 32"/>
          <p:cNvSpPr/>
          <p:nvPr/>
        </p:nvSpPr>
        <p:spPr>
          <a:xfrm>
            <a:off x="822960" y="5111640"/>
            <a:ext cx="9966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100000"/>
              </a:lnSpc>
              <a:buNone/>
            </a:pPr>
            <a:r>
              <a:rPr lang="en-SG" sz="1400" b="1" strike="noStrike" spc="-1">
                <a:solidFill>
                  <a:srgbClr val="FFFFFF"/>
                </a:solidFill>
                <a:latin typeface="Aptos"/>
              </a:rPr>
              <a:t>Audit assertions keep every excluded index out of EDA, inference, training, validation and test.</a:t>
            </a:r>
            <a:endParaRPr lang="en-US" sz="14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86"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SEMANTICS BEFORE ALGORITHMS</a:t>
            </a:r>
            <a:endParaRPr lang="en-US" sz="1050" b="0" strike="noStrike" spc="-1">
              <a:latin typeface="Arial"/>
            </a:endParaRPr>
          </a:p>
        </p:txBody>
      </p:sp>
      <p:sp>
        <p:nvSpPr>
          <p:cNvPr id="87"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Encoding follows the meaning of each field</a:t>
            </a:r>
            <a:endParaRPr lang="en-US" sz="2700" b="0" strike="noStrike" spc="-1">
              <a:latin typeface="Arial"/>
            </a:endParaRPr>
          </a:p>
        </p:txBody>
      </p:sp>
      <p:sp>
        <p:nvSpPr>
          <p:cNvPr id="89"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90"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03</a:t>
            </a:r>
            <a:endParaRPr lang="en-US" sz="950" b="0" strike="noStrike" spc="-1">
              <a:latin typeface="Arial"/>
            </a:endParaRPr>
          </a:p>
        </p:txBody>
      </p:sp>
      <p:sp>
        <p:nvSpPr>
          <p:cNvPr id="91" name="Panel 7"/>
          <p:cNvSpPr/>
          <p:nvPr/>
        </p:nvSpPr>
        <p:spPr>
          <a:xfrm>
            <a:off x="502920" y="1325880"/>
            <a:ext cx="4525920" cy="712800"/>
          </a:xfrm>
          <a:prstGeom prst="roundRect">
            <a:avLst>
              <a:gd name="adj" fmla="val 16667"/>
            </a:avLst>
          </a:prstGeom>
          <a:solidFill>
            <a:srgbClr val="DDE9E5"/>
          </a:solidFill>
          <a:ln w="12700">
            <a:solidFill>
              <a:srgbClr val="D6DDD9"/>
            </a:solidFill>
            <a:round/>
          </a:ln>
        </p:spPr>
        <p:style>
          <a:lnRef idx="0">
            <a:scrgbClr r="0" g="0" b="0"/>
          </a:lnRef>
          <a:fillRef idx="0">
            <a:scrgbClr r="0" g="0" b="0"/>
          </a:fillRef>
          <a:effectRef idx="0">
            <a:scrgbClr r="0" g="0" b="0"/>
          </a:effectRef>
          <a:fontRef idx="minor"/>
        </p:style>
      </p:sp>
      <p:sp>
        <p:nvSpPr>
          <p:cNvPr id="92" name="Text 8"/>
          <p:cNvSpPr/>
          <p:nvPr/>
        </p:nvSpPr>
        <p:spPr>
          <a:xfrm>
            <a:off x="658440" y="1444680"/>
            <a:ext cx="1425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D5C59"/>
                </a:solidFill>
                <a:latin typeface="Aptos"/>
              </a:rPr>
              <a:t>Flat Type / Model</a:t>
            </a:r>
            <a:endParaRPr lang="en-US" sz="1250" b="0" strike="noStrike" spc="-1">
              <a:latin typeface="Arial"/>
            </a:endParaRPr>
          </a:p>
        </p:txBody>
      </p:sp>
      <p:sp>
        <p:nvSpPr>
          <p:cNvPr id="93" name="Text 9"/>
          <p:cNvSpPr/>
          <p:nvPr/>
        </p:nvSpPr>
        <p:spPr>
          <a:xfrm>
            <a:off x="2084760" y="1417320"/>
            <a:ext cx="2724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80" b="1" strike="noStrike" spc="-1">
                <a:solidFill>
                  <a:srgbClr val="173238"/>
                </a:solidFill>
                <a:latin typeface="Aptos"/>
              </a:rPr>
              <a:t>One-hot categories</a:t>
            </a:r>
            <a:endParaRPr lang="en-US" sz="1180" b="0" strike="noStrike" spc="-1">
              <a:latin typeface="Arial"/>
            </a:endParaRPr>
          </a:p>
        </p:txBody>
      </p:sp>
      <p:sp>
        <p:nvSpPr>
          <p:cNvPr id="94" name="Text 10"/>
          <p:cNvSpPr/>
          <p:nvPr/>
        </p:nvSpPr>
        <p:spPr>
          <a:xfrm>
            <a:off x="2084760" y="1764720"/>
            <a:ext cx="2724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00" b="0" strike="noStrike" spc="-1">
                <a:solidFill>
                  <a:srgbClr val="5E6E70"/>
                </a:solidFill>
                <a:latin typeface="Aptos"/>
              </a:rPr>
              <a:t>No artificial order</a:t>
            </a:r>
            <a:endParaRPr lang="en-US" sz="900" b="0" strike="noStrike" spc="-1">
              <a:latin typeface="Arial"/>
            </a:endParaRPr>
          </a:p>
        </p:txBody>
      </p:sp>
      <p:sp>
        <p:nvSpPr>
          <p:cNvPr id="95" name="Panel 11"/>
          <p:cNvSpPr/>
          <p:nvPr/>
        </p:nvSpPr>
        <p:spPr>
          <a:xfrm>
            <a:off x="502920" y="2130480"/>
            <a:ext cx="4525920" cy="71280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96" name="Text 12"/>
          <p:cNvSpPr/>
          <p:nvPr/>
        </p:nvSpPr>
        <p:spPr>
          <a:xfrm>
            <a:off x="658440" y="2249280"/>
            <a:ext cx="1425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D5C59"/>
                </a:solidFill>
                <a:latin typeface="Aptos"/>
              </a:rPr>
              <a:t>Storey Range</a:t>
            </a:r>
            <a:endParaRPr lang="en-US" sz="1250" b="0" strike="noStrike" spc="-1">
              <a:latin typeface="Arial"/>
            </a:endParaRPr>
          </a:p>
        </p:txBody>
      </p:sp>
      <p:sp>
        <p:nvSpPr>
          <p:cNvPr id="97" name="Text 13"/>
          <p:cNvSpPr/>
          <p:nvPr/>
        </p:nvSpPr>
        <p:spPr>
          <a:xfrm>
            <a:off x="2084760" y="2221920"/>
            <a:ext cx="2724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80" b="1" strike="noStrike" spc="-1">
                <a:solidFill>
                  <a:srgbClr val="173238"/>
                </a:solidFill>
                <a:latin typeface="Aptos"/>
              </a:rPr>
              <a:t>Ordinal summary; categorical fit</a:t>
            </a:r>
            <a:endParaRPr lang="en-US" sz="1180" b="0" strike="noStrike" spc="-1">
              <a:latin typeface="Arial"/>
            </a:endParaRPr>
          </a:p>
        </p:txBody>
      </p:sp>
      <p:sp>
        <p:nvSpPr>
          <p:cNvPr id="98" name="Text 14"/>
          <p:cNvSpPr/>
          <p:nvPr/>
        </p:nvSpPr>
        <p:spPr>
          <a:xfrm>
            <a:off x="2084760" y="2569320"/>
            <a:ext cx="2724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00" b="0" strike="noStrike" spc="-1">
                <a:solidFill>
                  <a:srgbClr val="5E6E70"/>
                </a:solidFill>
                <a:latin typeface="Aptos"/>
              </a:rPr>
              <a:t>No equal-step assumption</a:t>
            </a:r>
            <a:endParaRPr lang="en-US" sz="900" b="0" strike="noStrike" spc="-1">
              <a:latin typeface="Arial"/>
            </a:endParaRPr>
          </a:p>
        </p:txBody>
      </p:sp>
      <p:sp>
        <p:nvSpPr>
          <p:cNvPr id="99" name="Panel 15"/>
          <p:cNvSpPr/>
          <p:nvPr/>
        </p:nvSpPr>
        <p:spPr>
          <a:xfrm>
            <a:off x="502920" y="2935080"/>
            <a:ext cx="4525920" cy="712800"/>
          </a:xfrm>
          <a:prstGeom prst="roundRect">
            <a:avLst>
              <a:gd name="adj" fmla="val 16667"/>
            </a:avLst>
          </a:prstGeom>
          <a:solidFill>
            <a:srgbClr val="DDE9E5"/>
          </a:solidFill>
          <a:ln w="12700">
            <a:solidFill>
              <a:srgbClr val="D6DDD9"/>
            </a:solidFill>
            <a:round/>
          </a:ln>
        </p:spPr>
        <p:style>
          <a:lnRef idx="0">
            <a:scrgbClr r="0" g="0" b="0"/>
          </a:lnRef>
          <a:fillRef idx="0">
            <a:scrgbClr r="0" g="0" b="0"/>
          </a:fillRef>
          <a:effectRef idx="0">
            <a:scrgbClr r="0" g="0" b="0"/>
          </a:effectRef>
          <a:fontRef idx="minor"/>
        </p:style>
      </p:sp>
      <p:sp>
        <p:nvSpPr>
          <p:cNvPr id="100" name="Text 16"/>
          <p:cNvSpPr/>
          <p:nvPr/>
        </p:nvSpPr>
        <p:spPr>
          <a:xfrm>
            <a:off x="658440" y="3054240"/>
            <a:ext cx="1425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D5C59"/>
                </a:solidFill>
                <a:latin typeface="Aptos"/>
              </a:rPr>
              <a:t>Remaining Lease</a:t>
            </a:r>
            <a:endParaRPr lang="en-US" sz="1250" b="0" strike="noStrike" spc="-1">
              <a:latin typeface="Arial"/>
            </a:endParaRPr>
          </a:p>
        </p:txBody>
      </p:sp>
      <p:sp>
        <p:nvSpPr>
          <p:cNvPr id="101" name="Text 17"/>
          <p:cNvSpPr/>
          <p:nvPr/>
        </p:nvSpPr>
        <p:spPr>
          <a:xfrm>
            <a:off x="2084760" y="3026520"/>
            <a:ext cx="2724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80" b="1" strike="noStrike" spc="-1">
                <a:solidFill>
                  <a:srgbClr val="173238"/>
                </a:solidFill>
                <a:latin typeface="Aptos"/>
              </a:rPr>
              <a:t>Fractional years</a:t>
            </a:r>
            <a:endParaRPr lang="en-US" sz="1180" b="0" strike="noStrike" spc="-1">
              <a:latin typeface="Arial"/>
            </a:endParaRPr>
          </a:p>
        </p:txBody>
      </p:sp>
      <p:sp>
        <p:nvSpPr>
          <p:cNvPr id="102" name="Text 18"/>
          <p:cNvSpPr/>
          <p:nvPr/>
        </p:nvSpPr>
        <p:spPr>
          <a:xfrm>
            <a:off x="2084760" y="3374280"/>
            <a:ext cx="2724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00" b="0" strike="noStrike" spc="-1">
                <a:solidFill>
                  <a:srgbClr val="5E6E70"/>
                </a:solidFill>
                <a:latin typeface="Aptos"/>
              </a:rPr>
              <a:t>Comparable numeric scale</a:t>
            </a:r>
            <a:endParaRPr lang="en-US" sz="900" b="0" strike="noStrike" spc="-1">
              <a:latin typeface="Arial"/>
            </a:endParaRPr>
          </a:p>
        </p:txBody>
      </p:sp>
      <p:sp>
        <p:nvSpPr>
          <p:cNvPr id="103" name="Panel 19"/>
          <p:cNvSpPr/>
          <p:nvPr/>
        </p:nvSpPr>
        <p:spPr>
          <a:xfrm>
            <a:off x="502920" y="3740040"/>
            <a:ext cx="4525920" cy="71280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104" name="Text 20"/>
          <p:cNvSpPr/>
          <p:nvPr/>
        </p:nvSpPr>
        <p:spPr>
          <a:xfrm>
            <a:off x="658440" y="3858840"/>
            <a:ext cx="1425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D5C59"/>
                </a:solidFill>
                <a:latin typeface="Aptos"/>
              </a:rPr>
              <a:t>Month</a:t>
            </a:r>
            <a:endParaRPr lang="en-US" sz="1250" b="0" strike="noStrike" spc="-1">
              <a:latin typeface="Arial"/>
            </a:endParaRPr>
          </a:p>
        </p:txBody>
      </p:sp>
      <p:sp>
        <p:nvSpPr>
          <p:cNvPr id="105" name="Text 21"/>
          <p:cNvSpPr/>
          <p:nvPr/>
        </p:nvSpPr>
        <p:spPr>
          <a:xfrm>
            <a:off x="2084760" y="3831480"/>
            <a:ext cx="2724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80" b="1" strike="noStrike" spc="-1">
                <a:solidFill>
                  <a:srgbClr val="173238"/>
                </a:solidFill>
                <a:latin typeface="Aptos"/>
              </a:rPr>
              <a:t>Time trend + seasonality</a:t>
            </a:r>
            <a:endParaRPr lang="en-US" sz="1180" b="0" strike="noStrike" spc="-1">
              <a:latin typeface="Arial"/>
            </a:endParaRPr>
          </a:p>
        </p:txBody>
      </p:sp>
      <p:sp>
        <p:nvSpPr>
          <p:cNvPr id="106" name="Text 22"/>
          <p:cNvSpPr/>
          <p:nvPr/>
        </p:nvSpPr>
        <p:spPr>
          <a:xfrm>
            <a:off x="2084760" y="4178880"/>
            <a:ext cx="2724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00" b="0" strike="noStrike" spc="-1">
                <a:solidFill>
                  <a:srgbClr val="5E6E70"/>
                </a:solidFill>
                <a:latin typeface="Aptos"/>
              </a:rPr>
              <a:t>Chronological evaluation</a:t>
            </a:r>
            <a:endParaRPr lang="en-US" sz="900" b="0" strike="noStrike" spc="-1">
              <a:latin typeface="Arial"/>
            </a:endParaRPr>
          </a:p>
        </p:txBody>
      </p:sp>
      <p:sp>
        <p:nvSpPr>
          <p:cNvPr id="107" name="Panel 23"/>
          <p:cNvSpPr/>
          <p:nvPr/>
        </p:nvSpPr>
        <p:spPr>
          <a:xfrm>
            <a:off x="502920" y="4544640"/>
            <a:ext cx="4525920" cy="712800"/>
          </a:xfrm>
          <a:prstGeom prst="roundRect">
            <a:avLst>
              <a:gd name="adj" fmla="val 16667"/>
            </a:avLst>
          </a:prstGeom>
          <a:solidFill>
            <a:srgbClr val="DDE9E5"/>
          </a:solidFill>
          <a:ln w="12700">
            <a:solidFill>
              <a:srgbClr val="D6DDD9"/>
            </a:solidFill>
            <a:round/>
          </a:ln>
        </p:spPr>
        <p:style>
          <a:lnRef idx="0">
            <a:scrgbClr r="0" g="0" b="0"/>
          </a:lnRef>
          <a:fillRef idx="0">
            <a:scrgbClr r="0" g="0" b="0"/>
          </a:fillRef>
          <a:effectRef idx="0">
            <a:scrgbClr r="0" g="0" b="0"/>
          </a:effectRef>
          <a:fontRef idx="minor"/>
        </p:style>
      </p:sp>
      <p:sp>
        <p:nvSpPr>
          <p:cNvPr id="108" name="Text 24"/>
          <p:cNvSpPr/>
          <p:nvPr/>
        </p:nvSpPr>
        <p:spPr>
          <a:xfrm>
            <a:off x="658440" y="4663440"/>
            <a:ext cx="1425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D5C59"/>
                </a:solidFill>
                <a:latin typeface="Aptos"/>
              </a:rPr>
              <a:t>Town → Street → Block</a:t>
            </a:r>
            <a:endParaRPr lang="en-US" sz="1250" b="0" strike="noStrike" spc="-1">
              <a:latin typeface="Arial"/>
            </a:endParaRPr>
          </a:p>
        </p:txBody>
      </p:sp>
      <p:sp>
        <p:nvSpPr>
          <p:cNvPr id="109" name="Text 25"/>
          <p:cNvSpPr/>
          <p:nvPr/>
        </p:nvSpPr>
        <p:spPr>
          <a:xfrm>
            <a:off x="2084760" y="4636080"/>
            <a:ext cx="2724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80" b="1" strike="noStrike" spc="-1">
                <a:solidFill>
                  <a:srgbClr val="173238"/>
                </a:solidFill>
                <a:latin typeface="Aptos"/>
              </a:rPr>
              <a:t>Earlier-year hierarchy</a:t>
            </a:r>
            <a:endParaRPr lang="en-US" sz="1180" b="0" strike="noStrike" spc="-1">
              <a:latin typeface="Arial"/>
            </a:endParaRPr>
          </a:p>
        </p:txBody>
      </p:sp>
      <p:sp>
        <p:nvSpPr>
          <p:cNvPr id="110" name="Text 26"/>
          <p:cNvSpPr/>
          <p:nvPr/>
        </p:nvSpPr>
        <p:spPr>
          <a:xfrm>
            <a:off x="2084760" y="4983480"/>
            <a:ext cx="2724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00" b="0" strike="noStrike" spc="-1">
                <a:solidFill>
                  <a:srgbClr val="5E6E70"/>
                </a:solidFill>
                <a:latin typeface="Aptos"/>
              </a:rPr>
              <a:t>Sparse addresses shrink upward</a:t>
            </a:r>
            <a:endParaRPr lang="en-US" sz="900" b="0" strike="noStrike" spc="-1">
              <a:latin typeface="Arial"/>
            </a:endParaRPr>
          </a:p>
        </p:txBody>
      </p:sp>
      <p:sp>
        <p:nvSpPr>
          <p:cNvPr id="111" name="Figure card 27"/>
          <p:cNvSpPr/>
          <p:nvPr/>
        </p:nvSpPr>
        <p:spPr>
          <a:xfrm>
            <a:off x="5257800" y="1307520"/>
            <a:ext cx="5897520" cy="23954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12" name="Figure 28" descr="Flat type and flat model transaction shares"/>
          <p:cNvPicPr/>
          <p:nvPr/>
        </p:nvPicPr>
        <p:blipFill>
          <a:blip r:embed="rId3"/>
          <a:stretch/>
        </p:blipFill>
        <p:spPr>
          <a:xfrm>
            <a:off x="5458878" y="1502094"/>
            <a:ext cx="5632883" cy="2061012"/>
          </a:xfrm>
          <a:prstGeom prst="rect">
            <a:avLst/>
          </a:prstGeom>
          <a:ln w="0">
            <a:noFill/>
          </a:ln>
        </p:spPr>
      </p:pic>
      <p:sp>
        <p:nvSpPr>
          <p:cNvPr id="113" name="Panel 29"/>
          <p:cNvSpPr/>
          <p:nvPr/>
        </p:nvSpPr>
        <p:spPr>
          <a:xfrm>
            <a:off x="5257800" y="3895200"/>
            <a:ext cx="5897520" cy="149940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114" name="Text 30"/>
          <p:cNvSpPr/>
          <p:nvPr/>
        </p:nvSpPr>
        <p:spPr>
          <a:xfrm>
            <a:off x="5513760" y="4133160"/>
            <a:ext cx="2633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200" b="1" strike="noStrike" spc="-1">
                <a:solidFill>
                  <a:srgbClr val="E4A64A"/>
                </a:solidFill>
                <a:latin typeface="Aptos"/>
              </a:rPr>
              <a:t>0.959 → 0.038</a:t>
            </a:r>
            <a:endParaRPr lang="en-US" sz="2200" b="0" strike="noStrike" spc="-1">
              <a:latin typeface="Arial"/>
            </a:endParaRPr>
          </a:p>
        </p:txBody>
      </p:sp>
      <p:sp>
        <p:nvSpPr>
          <p:cNvPr id="115" name="Text 31"/>
          <p:cNvSpPr/>
          <p:nvPr/>
        </p:nvSpPr>
        <p:spPr>
          <a:xfrm>
            <a:off x="5513760" y="4599360"/>
            <a:ext cx="2578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00" b="0" strike="noStrike" spc="-1">
                <a:solidFill>
                  <a:srgbClr val="CFDEDA"/>
                </a:solidFill>
                <a:latin typeface="Aptos"/>
              </a:rPr>
              <a:t>Price skewness after log transform</a:t>
            </a:r>
            <a:endParaRPr lang="en-US" sz="1000" b="0" strike="noStrike" spc="-1">
              <a:latin typeface="Arial"/>
            </a:endParaRPr>
          </a:p>
        </p:txBody>
      </p:sp>
      <p:sp>
        <p:nvSpPr>
          <p:cNvPr id="116" name="Text 32"/>
          <p:cNvSpPr/>
          <p:nvPr/>
        </p:nvSpPr>
        <p:spPr>
          <a:xfrm>
            <a:off x="8275320" y="4096440"/>
            <a:ext cx="254160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00" b="0" strike="noStrike" spc="-1">
                <a:solidFill>
                  <a:srgbClr val="FFFFFF"/>
                </a:solidFill>
                <a:latin typeface="Aptos"/>
              </a:rPr>
              <a:t>Log price limits domination by the most expensive sales and supports percentage-style coefficients.</a:t>
            </a:r>
            <a:endParaRPr lang="en-US" sz="13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117"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COVERAGE AND WEIGHTING</a:t>
            </a:r>
            <a:endParaRPr lang="en-US" sz="1050" b="0" strike="noStrike" spc="-1">
              <a:latin typeface="Arial"/>
            </a:endParaRPr>
          </a:p>
        </p:txBody>
      </p:sp>
      <p:sp>
        <p:nvSpPr>
          <p:cNvPr id="118"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Imbalance changes what ‘average performance’ means</a:t>
            </a:r>
            <a:endParaRPr lang="en-US" sz="2700" b="0" strike="noStrike" spc="-1">
              <a:latin typeface="Arial"/>
            </a:endParaRPr>
          </a:p>
        </p:txBody>
      </p:sp>
      <p:sp>
        <p:nvSpPr>
          <p:cNvPr id="120"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121"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04</a:t>
            </a:r>
            <a:endParaRPr lang="en-US" sz="950" b="0" strike="noStrike" spc="-1">
              <a:latin typeface="Arial"/>
            </a:endParaRPr>
          </a:p>
        </p:txBody>
      </p:sp>
      <p:sp>
        <p:nvSpPr>
          <p:cNvPr id="122" name="Metric 7"/>
          <p:cNvSpPr/>
          <p:nvPr/>
        </p:nvSpPr>
        <p:spPr>
          <a:xfrm>
            <a:off x="502920" y="1353240"/>
            <a:ext cx="201132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123" name="Text 8"/>
          <p:cNvSpPr/>
          <p:nvPr/>
        </p:nvSpPr>
        <p:spPr>
          <a:xfrm>
            <a:off x="640080" y="143568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1D5C59"/>
                </a:solidFill>
                <a:latin typeface="Aptos"/>
              </a:rPr>
              <a:t>42.3%</a:t>
            </a:r>
            <a:endParaRPr lang="en-US" sz="2300" b="0" strike="noStrike" spc="-1">
              <a:latin typeface="Arial"/>
            </a:endParaRPr>
          </a:p>
        </p:txBody>
      </p:sp>
      <p:sp>
        <p:nvSpPr>
          <p:cNvPr id="124" name="Text 9"/>
          <p:cNvSpPr/>
          <p:nvPr/>
        </p:nvSpPr>
        <p:spPr>
          <a:xfrm>
            <a:off x="640080" y="184716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4 ROOM SHARE</a:t>
            </a:r>
            <a:endParaRPr lang="en-US" sz="1050" b="0" strike="noStrike" spc="-1">
              <a:latin typeface="Arial"/>
            </a:endParaRPr>
          </a:p>
        </p:txBody>
      </p:sp>
      <p:sp>
        <p:nvSpPr>
          <p:cNvPr id="125" name="Metric 10"/>
          <p:cNvSpPr/>
          <p:nvPr/>
        </p:nvSpPr>
        <p:spPr>
          <a:xfrm>
            <a:off x="2697480" y="1353240"/>
            <a:ext cx="201132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126" name="Text 11"/>
          <p:cNvSpPr/>
          <p:nvPr/>
        </p:nvSpPr>
        <p:spPr>
          <a:xfrm>
            <a:off x="2834640" y="143568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D6654F"/>
                </a:solidFill>
                <a:latin typeface="Aptos"/>
              </a:rPr>
              <a:t>79 / 84</a:t>
            </a:r>
            <a:endParaRPr lang="en-US" sz="2300" b="0" strike="noStrike" spc="-1">
              <a:latin typeface="Arial"/>
            </a:endParaRPr>
          </a:p>
        </p:txBody>
      </p:sp>
      <p:sp>
        <p:nvSpPr>
          <p:cNvPr id="127" name="Text 12"/>
          <p:cNvSpPr/>
          <p:nvPr/>
        </p:nvSpPr>
        <p:spPr>
          <a:xfrm>
            <a:off x="2834640" y="184716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TWO RAREST TYPES</a:t>
            </a:r>
            <a:endParaRPr lang="en-US" sz="1050" b="0" strike="noStrike" spc="-1">
              <a:latin typeface="Arial"/>
            </a:endParaRPr>
          </a:p>
        </p:txBody>
      </p:sp>
      <p:sp>
        <p:nvSpPr>
          <p:cNvPr id="128" name="Text 13"/>
          <p:cNvSpPr/>
          <p:nvPr/>
        </p:nvSpPr>
        <p:spPr>
          <a:xfrm>
            <a:off x="567000" y="257868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29" name="Text 14"/>
          <p:cNvSpPr/>
          <p:nvPr/>
        </p:nvSpPr>
        <p:spPr>
          <a:xfrm>
            <a:off x="822960" y="2560320"/>
            <a:ext cx="390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00" b="0" strike="noStrike" spc="-1">
                <a:solidFill>
                  <a:srgbClr val="173238"/>
                </a:solidFill>
                <a:latin typeface="Aptos"/>
              </a:rPr>
              <a:t>Town × Flat Type support is uneven.</a:t>
            </a:r>
            <a:endParaRPr lang="en-US" sz="1700" b="0" strike="noStrike" spc="-1">
              <a:latin typeface="Arial"/>
            </a:endParaRPr>
          </a:p>
        </p:txBody>
      </p:sp>
      <p:sp>
        <p:nvSpPr>
          <p:cNvPr id="130" name="Text 15"/>
          <p:cNvSpPr/>
          <p:nvPr/>
        </p:nvSpPr>
        <p:spPr>
          <a:xfrm>
            <a:off x="567000" y="320040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31" name="Text 16"/>
          <p:cNvSpPr/>
          <p:nvPr/>
        </p:nvSpPr>
        <p:spPr>
          <a:xfrm>
            <a:off x="822960" y="3182040"/>
            <a:ext cx="390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00" b="0" strike="noStrike" spc="-1">
                <a:solidFill>
                  <a:srgbClr val="173238"/>
                </a:solidFill>
                <a:latin typeface="Aptos"/>
              </a:rPr>
              <a:t>No category is entirely unseen in 2025.</a:t>
            </a:r>
            <a:endParaRPr lang="en-US" sz="1700" b="0" strike="noStrike" spc="-1">
              <a:latin typeface="Arial"/>
            </a:endParaRPr>
          </a:p>
        </p:txBody>
      </p:sp>
      <p:sp>
        <p:nvSpPr>
          <p:cNvPr id="132" name="Text 17"/>
          <p:cNvSpPr/>
          <p:nvPr/>
        </p:nvSpPr>
        <p:spPr>
          <a:xfrm>
            <a:off x="567000" y="382212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33" name="Text 18"/>
          <p:cNvSpPr/>
          <p:nvPr/>
        </p:nvSpPr>
        <p:spPr>
          <a:xfrm>
            <a:off x="822960" y="3803760"/>
            <a:ext cx="390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00" b="0" strike="noStrike" spc="-1">
                <a:solidFill>
                  <a:srgbClr val="173238"/>
                </a:solidFill>
                <a:latin typeface="Aptos"/>
              </a:rPr>
              <a:t>Small groups still yield unstable errors.</a:t>
            </a:r>
            <a:endParaRPr lang="en-US" sz="1700" b="0" strike="noStrike" spc="-1">
              <a:latin typeface="Arial"/>
            </a:endParaRPr>
          </a:p>
        </p:txBody>
      </p:sp>
      <p:sp>
        <p:nvSpPr>
          <p:cNvPr id="134" name="Panel 19"/>
          <p:cNvSpPr/>
          <p:nvPr/>
        </p:nvSpPr>
        <p:spPr>
          <a:xfrm>
            <a:off x="567000" y="4617720"/>
            <a:ext cx="4160160" cy="85932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135" name="Text 20"/>
          <p:cNvSpPr/>
          <p:nvPr/>
        </p:nvSpPr>
        <p:spPr>
          <a:xfrm>
            <a:off x="777240" y="4745880"/>
            <a:ext cx="13896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800" b="1" strike="noStrike" spc="-1">
                <a:solidFill>
                  <a:srgbClr val="E4A64A"/>
                </a:solidFill>
                <a:latin typeface="Aptos"/>
              </a:rPr>
              <a:t>48,728 → 47,265</a:t>
            </a:r>
            <a:endParaRPr lang="en-US" sz="1800" b="0" strike="noStrike" spc="-1">
              <a:latin typeface="Arial"/>
            </a:endParaRPr>
          </a:p>
        </p:txBody>
      </p:sp>
      <p:sp>
        <p:nvSpPr>
          <p:cNvPr id="136" name="Text 21"/>
          <p:cNvSpPr/>
          <p:nvPr/>
        </p:nvSpPr>
        <p:spPr>
          <a:xfrm>
            <a:off x="2212920" y="4754880"/>
            <a:ext cx="2267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0" strike="noStrike" spc="-1">
                <a:solidFill>
                  <a:srgbClr val="FFFFFF"/>
                </a:solidFill>
                <a:latin typeface="Aptos"/>
              </a:rPr>
              <a:t>Town macro-MAE after equal-Town weighting</a:t>
            </a:r>
            <a:endParaRPr lang="en-US" sz="1100" b="0" strike="noStrike" spc="-1">
              <a:latin typeface="Arial"/>
            </a:endParaRPr>
          </a:p>
        </p:txBody>
      </p:sp>
      <p:sp>
        <p:nvSpPr>
          <p:cNvPr id="137" name="Figure card 22"/>
          <p:cNvSpPr/>
          <p:nvPr/>
        </p:nvSpPr>
        <p:spPr>
          <a:xfrm>
            <a:off x="5010840" y="1280160"/>
            <a:ext cx="6126120" cy="44618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38" name="Figure 23" descr="Heatmap of common support across Town and Flat Type"/>
          <p:cNvPicPr/>
          <p:nvPr/>
        </p:nvPicPr>
        <p:blipFill>
          <a:blip r:embed="rId3"/>
          <a:stretch/>
        </p:blipFill>
        <p:spPr>
          <a:xfrm>
            <a:off x="5562540" y="1524923"/>
            <a:ext cx="5022720" cy="4142818"/>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139"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SAME ROWS, SEQUENTIAL CONTROLS</a:t>
            </a:r>
            <a:endParaRPr lang="en-US" sz="1050" b="0" strike="noStrike" spc="-1">
              <a:latin typeface="Arial"/>
            </a:endParaRPr>
          </a:p>
        </p:txBody>
      </p:sp>
      <p:sp>
        <p:nvSpPr>
          <p:cNvPr id="140"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Hedonic pricing makes the comparison explicit</a:t>
            </a:r>
            <a:endParaRPr lang="en-US" sz="2700" b="0" strike="noStrike" spc="-1">
              <a:latin typeface="Arial"/>
            </a:endParaRPr>
          </a:p>
        </p:txBody>
      </p:sp>
      <p:sp>
        <p:nvSpPr>
          <p:cNvPr id="142"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143"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05</a:t>
            </a:r>
            <a:endParaRPr lang="en-US" sz="950" b="0" strike="noStrike" spc="-1">
              <a:latin typeface="Arial"/>
            </a:endParaRPr>
          </a:p>
        </p:txBody>
      </p:sp>
      <p:sp>
        <p:nvSpPr>
          <p:cNvPr id="144" name="Text 7"/>
          <p:cNvSpPr/>
          <p:nvPr/>
        </p:nvSpPr>
        <p:spPr>
          <a:xfrm>
            <a:off x="567000" y="1316880"/>
            <a:ext cx="585000" cy="47520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500" b="1" strike="noStrike" spc="-1">
                <a:solidFill>
                  <a:srgbClr val="FFFFFF"/>
                </a:solidFill>
                <a:latin typeface="Aptos"/>
              </a:rPr>
              <a:t>M0</a:t>
            </a:r>
            <a:endParaRPr lang="en-US" sz="1500" b="0" strike="noStrike" spc="-1">
              <a:latin typeface="Arial"/>
            </a:endParaRPr>
          </a:p>
        </p:txBody>
      </p:sp>
      <p:sp>
        <p:nvSpPr>
          <p:cNvPr id="145" name="Text 8"/>
          <p:cNvSpPr/>
          <p:nvPr/>
        </p:nvSpPr>
        <p:spPr>
          <a:xfrm>
            <a:off x="1280160" y="1353240"/>
            <a:ext cx="29440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1" strike="noStrike" spc="-1">
                <a:solidFill>
                  <a:srgbClr val="173238"/>
                </a:solidFill>
                <a:latin typeface="Aptos"/>
              </a:rPr>
              <a:t>Town only</a:t>
            </a:r>
            <a:endParaRPr lang="en-US" sz="1500" b="0" strike="noStrike" spc="-1">
              <a:latin typeface="Arial"/>
            </a:endParaRPr>
          </a:p>
        </p:txBody>
      </p:sp>
      <p:sp>
        <p:nvSpPr>
          <p:cNvPr id="146" name="Text 9"/>
          <p:cNvSpPr/>
          <p:nvPr/>
        </p:nvSpPr>
        <p:spPr>
          <a:xfrm>
            <a:off x="567000" y="2103120"/>
            <a:ext cx="585000" cy="47520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500" b="1" strike="noStrike" spc="-1">
                <a:solidFill>
                  <a:srgbClr val="FFFFFF"/>
                </a:solidFill>
                <a:latin typeface="Aptos"/>
              </a:rPr>
              <a:t>M1</a:t>
            </a:r>
            <a:endParaRPr lang="en-US" sz="1500" b="0" strike="noStrike" spc="-1">
              <a:latin typeface="Arial"/>
            </a:endParaRPr>
          </a:p>
        </p:txBody>
      </p:sp>
      <p:sp>
        <p:nvSpPr>
          <p:cNvPr id="147" name="Text 10"/>
          <p:cNvSpPr/>
          <p:nvPr/>
        </p:nvSpPr>
        <p:spPr>
          <a:xfrm>
            <a:off x="1280160" y="2139840"/>
            <a:ext cx="29440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1" strike="noStrike" spc="-1">
                <a:solidFill>
                  <a:srgbClr val="173238"/>
                </a:solidFill>
                <a:latin typeface="Aptos"/>
              </a:rPr>
              <a:t>+ registration month</a:t>
            </a:r>
            <a:endParaRPr lang="en-US" sz="1500" b="0" strike="noStrike" spc="-1">
              <a:latin typeface="Arial"/>
            </a:endParaRPr>
          </a:p>
        </p:txBody>
      </p:sp>
      <p:sp>
        <p:nvSpPr>
          <p:cNvPr id="148" name="Text 11"/>
          <p:cNvSpPr/>
          <p:nvPr/>
        </p:nvSpPr>
        <p:spPr>
          <a:xfrm>
            <a:off x="567000" y="2889360"/>
            <a:ext cx="585000" cy="47520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500" b="1" strike="noStrike" spc="-1">
                <a:solidFill>
                  <a:srgbClr val="FFFFFF"/>
                </a:solidFill>
                <a:latin typeface="Aptos"/>
              </a:rPr>
              <a:t>M2</a:t>
            </a:r>
            <a:endParaRPr lang="en-US" sz="1500" b="0" strike="noStrike" spc="-1">
              <a:latin typeface="Arial"/>
            </a:endParaRPr>
          </a:p>
        </p:txBody>
      </p:sp>
      <p:sp>
        <p:nvSpPr>
          <p:cNvPr id="149" name="Text 12"/>
          <p:cNvSpPr/>
          <p:nvPr/>
        </p:nvSpPr>
        <p:spPr>
          <a:xfrm>
            <a:off x="1280160" y="2926080"/>
            <a:ext cx="29440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1" strike="noStrike" spc="-1">
                <a:solidFill>
                  <a:srgbClr val="173238"/>
                </a:solidFill>
                <a:latin typeface="Aptos"/>
              </a:rPr>
              <a:t>+ log floor area</a:t>
            </a:r>
            <a:endParaRPr lang="en-US" sz="1500" b="0" strike="noStrike" spc="-1">
              <a:latin typeface="Arial"/>
            </a:endParaRPr>
          </a:p>
        </p:txBody>
      </p:sp>
      <p:sp>
        <p:nvSpPr>
          <p:cNvPr id="150" name="Text 13"/>
          <p:cNvSpPr/>
          <p:nvPr/>
        </p:nvSpPr>
        <p:spPr>
          <a:xfrm>
            <a:off x="567000" y="3675960"/>
            <a:ext cx="585000" cy="47520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500" b="1" strike="noStrike" spc="-1">
                <a:solidFill>
                  <a:srgbClr val="FFFFFF"/>
                </a:solidFill>
                <a:latin typeface="Aptos"/>
              </a:rPr>
              <a:t>M3</a:t>
            </a:r>
            <a:endParaRPr lang="en-US" sz="1500" b="0" strike="noStrike" spc="-1">
              <a:latin typeface="Arial"/>
            </a:endParaRPr>
          </a:p>
        </p:txBody>
      </p:sp>
      <p:sp>
        <p:nvSpPr>
          <p:cNvPr id="151" name="Text 14"/>
          <p:cNvSpPr/>
          <p:nvPr/>
        </p:nvSpPr>
        <p:spPr>
          <a:xfrm>
            <a:off x="1280160" y="3712320"/>
            <a:ext cx="29440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1" strike="noStrike" spc="-1">
                <a:solidFill>
                  <a:srgbClr val="173238"/>
                </a:solidFill>
                <a:latin typeface="Aptos"/>
              </a:rPr>
              <a:t>+ Flat Type and Model</a:t>
            </a:r>
            <a:endParaRPr lang="en-US" sz="1500" b="0" strike="noStrike" spc="-1">
              <a:latin typeface="Arial"/>
            </a:endParaRPr>
          </a:p>
        </p:txBody>
      </p:sp>
      <p:sp>
        <p:nvSpPr>
          <p:cNvPr id="152" name="Text 15"/>
          <p:cNvSpPr/>
          <p:nvPr/>
        </p:nvSpPr>
        <p:spPr>
          <a:xfrm>
            <a:off x="567000" y="4462200"/>
            <a:ext cx="585000" cy="47520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500" b="1" strike="noStrike" spc="-1">
                <a:solidFill>
                  <a:srgbClr val="FFFFFF"/>
                </a:solidFill>
                <a:latin typeface="Aptos"/>
              </a:rPr>
              <a:t>M4</a:t>
            </a:r>
            <a:endParaRPr lang="en-US" sz="1500" b="0" strike="noStrike" spc="-1">
              <a:latin typeface="Arial"/>
            </a:endParaRPr>
          </a:p>
        </p:txBody>
      </p:sp>
      <p:sp>
        <p:nvSpPr>
          <p:cNvPr id="153" name="Text 16"/>
          <p:cNvSpPr/>
          <p:nvPr/>
        </p:nvSpPr>
        <p:spPr>
          <a:xfrm>
            <a:off x="1280160" y="4498920"/>
            <a:ext cx="29440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1" strike="noStrike" spc="-1">
                <a:solidFill>
                  <a:srgbClr val="173238"/>
                </a:solidFill>
                <a:latin typeface="Aptos"/>
              </a:rPr>
              <a:t>+ Storey Range and lease</a:t>
            </a:r>
            <a:endParaRPr lang="en-US" sz="1500" b="0" strike="noStrike" spc="-1">
              <a:latin typeface="Arial"/>
            </a:endParaRPr>
          </a:p>
        </p:txBody>
      </p:sp>
      <p:sp>
        <p:nvSpPr>
          <p:cNvPr id="154" name="Text 17"/>
          <p:cNvSpPr/>
          <p:nvPr/>
        </p:nvSpPr>
        <p:spPr>
          <a:xfrm>
            <a:off x="603360" y="5266800"/>
            <a:ext cx="3611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Outcome: log(resale price)</a:t>
            </a:r>
            <a:endParaRPr lang="en-US" sz="1050" b="0" strike="noStrike" spc="-1">
              <a:latin typeface="Arial"/>
            </a:endParaRPr>
          </a:p>
          <a:p>
            <a:pPr>
              <a:lnSpc>
                <a:spcPct val="100000"/>
              </a:lnSpc>
              <a:buNone/>
            </a:pPr>
            <a:r>
              <a:rPr lang="en-SG" sz="1050" b="0" strike="noStrike" spc="-1">
                <a:solidFill>
                  <a:srgbClr val="5E6E70"/>
                </a:solidFill>
                <a:latin typeface="Aptos"/>
              </a:rPr>
              <a:t>BEDOK reference · building-clustered uncertainty</a:t>
            </a:r>
            <a:endParaRPr lang="en-US" sz="1050" b="0" strike="noStrike" spc="-1">
              <a:latin typeface="Arial"/>
            </a:endParaRPr>
          </a:p>
        </p:txBody>
      </p:sp>
      <p:sp>
        <p:nvSpPr>
          <p:cNvPr id="155" name="Figure card 18"/>
          <p:cNvSpPr/>
          <p:nvPr/>
        </p:nvSpPr>
        <p:spPr>
          <a:xfrm>
            <a:off x="4498920" y="1280160"/>
            <a:ext cx="6610680" cy="444348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56" name="Figure 19" descr="Town coefficients and PASIR RIS path before and after controls"/>
          <p:cNvPicPr/>
          <p:nvPr/>
        </p:nvPicPr>
        <p:blipFill>
          <a:blip r:embed="rId3"/>
          <a:stretch/>
        </p:blipFill>
        <p:spPr>
          <a:xfrm>
            <a:off x="4707025" y="1728049"/>
            <a:ext cx="6347756" cy="3547701"/>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157"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INTERPRET THE REVERSAL; CHALLENGE THE ATTRIBUTION</a:t>
            </a:r>
            <a:endParaRPr lang="en-US" sz="1050" b="0" strike="noStrike" spc="-1">
              <a:latin typeface="Arial"/>
            </a:endParaRPr>
          </a:p>
        </p:txBody>
      </p:sp>
      <p:sp>
        <p:nvSpPr>
          <p:cNvPr id="158"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350" b="1" strike="noStrike" spc="-1">
                <a:solidFill>
                  <a:srgbClr val="173238"/>
                </a:solidFill>
                <a:latin typeface="Aptos"/>
              </a:rPr>
              <a:t>The non-obvious finding survives stronger comparisons</a:t>
            </a:r>
            <a:endParaRPr lang="en-US" sz="2350" b="0" strike="noStrike" spc="-1">
              <a:latin typeface="Arial"/>
            </a:endParaRPr>
          </a:p>
        </p:txBody>
      </p:sp>
      <p:sp>
        <p:nvSpPr>
          <p:cNvPr id="160"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161"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06</a:t>
            </a:r>
            <a:endParaRPr lang="en-US" sz="950" b="0" strike="noStrike" spc="-1">
              <a:latin typeface="Arial"/>
            </a:endParaRPr>
          </a:p>
        </p:txBody>
      </p:sp>
      <p:sp>
        <p:nvSpPr>
          <p:cNvPr id="162" name="Panel 7"/>
          <p:cNvSpPr/>
          <p:nvPr/>
        </p:nvSpPr>
        <p:spPr>
          <a:xfrm>
            <a:off x="502920" y="1298520"/>
            <a:ext cx="3931560" cy="102384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163" name="Text 8"/>
          <p:cNvSpPr/>
          <p:nvPr/>
        </p:nvSpPr>
        <p:spPr>
          <a:xfrm>
            <a:off x="731520" y="1490400"/>
            <a:ext cx="3291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200" b="1" strike="noStrike" spc="-1">
                <a:solidFill>
                  <a:srgbClr val="E4A64A"/>
                </a:solidFill>
                <a:latin typeface="Aptos"/>
              </a:rPr>
              <a:t>+26.0%  →  −12.5%</a:t>
            </a:r>
            <a:endParaRPr lang="en-US" sz="2200" b="0" strike="noStrike" spc="-1">
              <a:latin typeface="Arial"/>
            </a:endParaRPr>
          </a:p>
        </p:txBody>
      </p:sp>
      <p:sp>
        <p:nvSpPr>
          <p:cNvPr id="164" name="Text 9"/>
          <p:cNvSpPr/>
          <p:nvPr/>
        </p:nvSpPr>
        <p:spPr>
          <a:xfrm>
            <a:off x="731520" y="1911240"/>
            <a:ext cx="3337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950" b="0" strike="noStrike" spc="-1">
                <a:solidFill>
                  <a:srgbClr val="CFDEDA"/>
                </a:solidFill>
                <a:latin typeface="Aptos"/>
              </a:rPr>
              <a:t>PASIR RIS relative to BEDOK · M0 → M4</a:t>
            </a:r>
            <a:endParaRPr lang="en-US" sz="950" b="0" strike="noStrike" spc="-1">
              <a:latin typeface="Arial"/>
            </a:endParaRPr>
          </a:p>
        </p:txBody>
      </p:sp>
      <p:sp>
        <p:nvSpPr>
          <p:cNvPr id="165" name="Panel 10"/>
          <p:cNvSpPr/>
          <p:nvPr/>
        </p:nvSpPr>
        <p:spPr>
          <a:xfrm>
            <a:off x="502920" y="2541960"/>
            <a:ext cx="18651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166" name="Text 11"/>
          <p:cNvSpPr/>
          <p:nvPr/>
        </p:nvSpPr>
        <p:spPr>
          <a:xfrm>
            <a:off x="640080" y="2660760"/>
            <a:ext cx="1572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00" b="1" strike="noStrike" spc="-1">
                <a:solidFill>
                  <a:srgbClr val="D6654F"/>
                </a:solidFill>
                <a:latin typeface="Aptos"/>
              </a:rPr>
              <a:t>1.1–84.0%</a:t>
            </a:r>
            <a:endParaRPr lang="en-US" sz="1700" b="0" strike="noStrike" spc="-1">
              <a:latin typeface="Arial"/>
            </a:endParaRPr>
          </a:p>
        </p:txBody>
      </p:sp>
      <p:sp>
        <p:nvSpPr>
          <p:cNvPr id="167" name="Text 12"/>
          <p:cNvSpPr/>
          <p:nvPr/>
        </p:nvSpPr>
        <p:spPr>
          <a:xfrm>
            <a:off x="640080" y="3090600"/>
            <a:ext cx="1572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850" b="0" strike="noStrike" spc="-1">
                <a:solidFill>
                  <a:srgbClr val="5E6E70"/>
                </a:solidFill>
                <a:latin typeface="Aptos"/>
              </a:rPr>
              <a:t>AREA SHARE ACROSS ORDERS</a:t>
            </a:r>
            <a:endParaRPr lang="en-US" sz="850" b="0" strike="noStrike" spc="-1">
              <a:latin typeface="Arial"/>
            </a:endParaRPr>
          </a:p>
        </p:txBody>
      </p:sp>
      <p:sp>
        <p:nvSpPr>
          <p:cNvPr id="168" name="Panel 13"/>
          <p:cNvSpPr/>
          <p:nvPr/>
        </p:nvSpPr>
        <p:spPr>
          <a:xfrm>
            <a:off x="2560320" y="2541960"/>
            <a:ext cx="18651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169" name="Text 14"/>
          <p:cNvSpPr/>
          <p:nvPr/>
        </p:nvSpPr>
        <p:spPr>
          <a:xfrm>
            <a:off x="2697480" y="2660760"/>
            <a:ext cx="1572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000" b="1" strike="noStrike" spc="-1">
                <a:solidFill>
                  <a:srgbClr val="1D5C59"/>
                </a:solidFill>
                <a:latin typeface="Aptos"/>
              </a:rPr>
              <a:t>−10.8%</a:t>
            </a:r>
            <a:endParaRPr lang="en-US" sz="2000" b="0" strike="noStrike" spc="-1">
              <a:latin typeface="Arial"/>
            </a:endParaRPr>
          </a:p>
        </p:txBody>
      </p:sp>
      <p:sp>
        <p:nvSpPr>
          <p:cNvPr id="170" name="Text 15"/>
          <p:cNvSpPr/>
          <p:nvPr/>
        </p:nvSpPr>
        <p:spPr>
          <a:xfrm>
            <a:off x="2697480" y="3090600"/>
            <a:ext cx="1572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850" b="0" strike="noStrike" spc="-1">
                <a:solidFill>
                  <a:srgbClr val="5E6E70"/>
                </a:solidFill>
                <a:latin typeface="Aptos"/>
              </a:rPr>
              <a:t>STRICT SUPPORT RESULT</a:t>
            </a:r>
            <a:endParaRPr lang="en-US" sz="850" b="0" strike="noStrike" spc="-1">
              <a:latin typeface="Arial"/>
            </a:endParaRPr>
          </a:p>
        </p:txBody>
      </p:sp>
      <p:sp>
        <p:nvSpPr>
          <p:cNvPr id="171" name="Text 16"/>
          <p:cNvSpPr/>
          <p:nvPr/>
        </p:nvSpPr>
        <p:spPr>
          <a:xfrm>
            <a:off x="567000" y="376740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72" name="Text 17"/>
          <p:cNvSpPr/>
          <p:nvPr/>
        </p:nvSpPr>
        <p:spPr>
          <a:xfrm>
            <a:off x="822960" y="3749040"/>
            <a:ext cx="3547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Type/Model first also reverses the sign.</a:t>
            </a:r>
            <a:endParaRPr lang="en-US" sz="1500" b="0" strike="noStrike" spc="-1">
              <a:latin typeface="Arial"/>
            </a:endParaRPr>
          </a:p>
        </p:txBody>
      </p:sp>
      <p:sp>
        <p:nvSpPr>
          <p:cNvPr id="173" name="Text 18"/>
          <p:cNvSpPr/>
          <p:nvPr/>
        </p:nvSpPr>
        <p:spPr>
          <a:xfrm>
            <a:off x="567000" y="438012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74" name="Text 19"/>
          <p:cNvSpPr/>
          <p:nvPr/>
        </p:nvSpPr>
        <p:spPr>
          <a:xfrm>
            <a:off x="822960" y="4361760"/>
            <a:ext cx="3547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Strict joint support: 387 transactions.</a:t>
            </a:r>
            <a:endParaRPr lang="en-US" sz="1500" b="0" strike="noStrike" spc="-1">
              <a:latin typeface="Arial"/>
            </a:endParaRPr>
          </a:p>
        </p:txBody>
      </p:sp>
      <p:sp>
        <p:nvSpPr>
          <p:cNvPr id="175" name="Text 20"/>
          <p:cNvSpPr/>
          <p:nvPr/>
        </p:nvSpPr>
        <p:spPr>
          <a:xfrm>
            <a:off x="567000" y="499248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176" name="Text 21"/>
          <p:cNvSpPr/>
          <p:nvPr/>
        </p:nvSpPr>
        <p:spPr>
          <a:xfrm>
            <a:off x="822960" y="4974480"/>
            <a:ext cx="3547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Composition reversal; not a causal Town effect.</a:t>
            </a:r>
            <a:endParaRPr lang="en-US" sz="1500" b="0" strike="noStrike" spc="-1">
              <a:latin typeface="Arial"/>
            </a:endParaRPr>
          </a:p>
        </p:txBody>
      </p:sp>
      <p:sp>
        <p:nvSpPr>
          <p:cNvPr id="177" name="Figure card 22"/>
          <p:cNvSpPr/>
          <p:nvPr/>
        </p:nvSpPr>
        <p:spPr>
          <a:xfrm>
            <a:off x="4700160" y="1280160"/>
            <a:ext cx="6437160" cy="223992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78" name="Figure 23" descr="Sensitivity of housing-block attribution to control order"/>
          <p:cNvPicPr/>
          <p:nvPr/>
        </p:nvPicPr>
        <p:blipFill>
          <a:blip r:embed="rId3"/>
          <a:stretch/>
        </p:blipFill>
        <p:spPr>
          <a:xfrm>
            <a:off x="4939032" y="1366970"/>
            <a:ext cx="5959415" cy="2099967"/>
          </a:xfrm>
          <a:prstGeom prst="rect">
            <a:avLst/>
          </a:prstGeom>
          <a:ln w="0">
            <a:noFill/>
          </a:ln>
        </p:spPr>
      </p:pic>
      <p:sp>
        <p:nvSpPr>
          <p:cNvPr id="179" name="Figure card 24"/>
          <p:cNvSpPr/>
          <p:nvPr/>
        </p:nvSpPr>
        <p:spPr>
          <a:xfrm>
            <a:off x="4700160" y="3675960"/>
            <a:ext cx="6437160" cy="19382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80" name="Figure 25" descr="PASIR RIS and BEDOK effects under common-support restrictions"/>
          <p:cNvPicPr/>
          <p:nvPr/>
        </p:nvPicPr>
        <p:blipFill>
          <a:blip r:embed="rId4"/>
          <a:stretch/>
        </p:blipFill>
        <p:spPr>
          <a:xfrm>
            <a:off x="5945040" y="3675960"/>
            <a:ext cx="3947400" cy="193824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181"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ONE MODEL CLASS; FIVE PREPARATION STAGES</a:t>
            </a:r>
            <a:endParaRPr lang="en-US" sz="1050" b="0" strike="noStrike" spc="-1">
              <a:latin typeface="Arial"/>
            </a:endParaRPr>
          </a:p>
        </p:txBody>
      </p:sp>
      <p:sp>
        <p:nvSpPr>
          <p:cNvPr id="182"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Minimal versus systematic preparation</a:t>
            </a:r>
            <a:endParaRPr lang="en-US" sz="2700" b="0" strike="noStrike" spc="-1">
              <a:latin typeface="Arial"/>
            </a:endParaRPr>
          </a:p>
        </p:txBody>
      </p:sp>
      <p:sp>
        <p:nvSpPr>
          <p:cNvPr id="184"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185"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07</a:t>
            </a:r>
            <a:endParaRPr lang="en-US" sz="950" b="0" strike="noStrike" spc="-1">
              <a:latin typeface="Arial"/>
            </a:endParaRPr>
          </a:p>
        </p:txBody>
      </p:sp>
      <p:sp>
        <p:nvSpPr>
          <p:cNvPr id="186" name="Figure card 7"/>
          <p:cNvSpPr/>
          <p:nvPr/>
        </p:nvSpPr>
        <p:spPr>
          <a:xfrm>
            <a:off x="4050720" y="1298520"/>
            <a:ext cx="7113600" cy="429732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187" name="Figure 8" descr="Prediction error across B0 to B4 preparation stages"/>
          <p:cNvPicPr/>
          <p:nvPr/>
        </p:nvPicPr>
        <p:blipFill>
          <a:blip r:embed="rId3"/>
          <a:stretch/>
        </p:blipFill>
        <p:spPr>
          <a:xfrm>
            <a:off x="4050720" y="2279520"/>
            <a:ext cx="7113600" cy="2335320"/>
          </a:xfrm>
          <a:prstGeom prst="rect">
            <a:avLst/>
          </a:prstGeom>
          <a:ln w="0">
            <a:noFill/>
          </a:ln>
        </p:spPr>
      </p:pic>
      <p:sp>
        <p:nvSpPr>
          <p:cNvPr id="188" name="Text 9"/>
          <p:cNvSpPr/>
          <p:nvPr/>
        </p:nvSpPr>
        <p:spPr>
          <a:xfrm>
            <a:off x="530280" y="1371600"/>
            <a:ext cx="566640" cy="43848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400" b="1" strike="noStrike" spc="-1">
                <a:solidFill>
                  <a:srgbClr val="FFFFFF"/>
                </a:solidFill>
                <a:latin typeface="Aptos"/>
              </a:rPr>
              <a:t>B0</a:t>
            </a:r>
            <a:endParaRPr lang="en-US" sz="1400" b="0" strike="noStrike" spc="-1">
              <a:latin typeface="Arial"/>
            </a:endParaRPr>
          </a:p>
        </p:txBody>
      </p:sp>
      <p:sp>
        <p:nvSpPr>
          <p:cNvPr id="189" name="Text 10"/>
          <p:cNvSpPr/>
          <p:nvPr/>
        </p:nvSpPr>
        <p:spPr>
          <a:xfrm>
            <a:off x="1261800" y="1408320"/>
            <a:ext cx="2422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Minimal source-like</a:t>
            </a:r>
            <a:endParaRPr lang="en-US" sz="1400" b="0" strike="noStrike" spc="-1">
              <a:latin typeface="Arial"/>
            </a:endParaRPr>
          </a:p>
        </p:txBody>
      </p:sp>
      <p:sp>
        <p:nvSpPr>
          <p:cNvPr id="190" name="Text 11"/>
          <p:cNvSpPr/>
          <p:nvPr/>
        </p:nvSpPr>
        <p:spPr>
          <a:xfrm>
            <a:off x="530280" y="2011680"/>
            <a:ext cx="566640" cy="43848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400" b="1" strike="noStrike" spc="-1">
                <a:solidFill>
                  <a:srgbClr val="FFFFFF"/>
                </a:solidFill>
                <a:latin typeface="Aptos"/>
              </a:rPr>
              <a:t>B1</a:t>
            </a:r>
            <a:endParaRPr lang="en-US" sz="1400" b="0" strike="noStrike" spc="-1">
              <a:latin typeface="Arial"/>
            </a:endParaRPr>
          </a:p>
        </p:txBody>
      </p:sp>
      <p:sp>
        <p:nvSpPr>
          <p:cNvPr id="191" name="Text 12"/>
          <p:cNvSpPr/>
          <p:nvPr/>
        </p:nvSpPr>
        <p:spPr>
          <a:xfrm>
            <a:off x="1261800" y="2048400"/>
            <a:ext cx="2422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Categorical structure</a:t>
            </a:r>
            <a:endParaRPr lang="en-US" sz="1400" b="0" strike="noStrike" spc="-1">
              <a:latin typeface="Arial"/>
            </a:endParaRPr>
          </a:p>
        </p:txBody>
      </p:sp>
      <p:sp>
        <p:nvSpPr>
          <p:cNvPr id="192" name="Text 13"/>
          <p:cNvSpPr/>
          <p:nvPr/>
        </p:nvSpPr>
        <p:spPr>
          <a:xfrm>
            <a:off x="530280" y="2651760"/>
            <a:ext cx="566640" cy="43848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400" b="1" strike="noStrike" spc="-1">
                <a:solidFill>
                  <a:srgbClr val="FFFFFF"/>
                </a:solidFill>
                <a:latin typeface="Aptos"/>
              </a:rPr>
              <a:t>B2</a:t>
            </a:r>
            <a:endParaRPr lang="en-US" sz="1400" b="0" strike="noStrike" spc="-1">
              <a:latin typeface="Arial"/>
            </a:endParaRPr>
          </a:p>
        </p:txBody>
      </p:sp>
      <p:sp>
        <p:nvSpPr>
          <p:cNvPr id="193" name="Text 14"/>
          <p:cNvSpPr/>
          <p:nvPr/>
        </p:nvSpPr>
        <p:spPr>
          <a:xfrm>
            <a:off x="1261800" y="2688480"/>
            <a:ext cx="2422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Functional forms</a:t>
            </a:r>
            <a:endParaRPr lang="en-US" sz="1400" b="0" strike="noStrike" spc="-1">
              <a:latin typeface="Arial"/>
            </a:endParaRPr>
          </a:p>
        </p:txBody>
      </p:sp>
      <p:sp>
        <p:nvSpPr>
          <p:cNvPr id="194" name="Text 15"/>
          <p:cNvSpPr/>
          <p:nvPr/>
        </p:nvSpPr>
        <p:spPr>
          <a:xfrm>
            <a:off x="530280" y="3291840"/>
            <a:ext cx="566640" cy="43848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400" b="1" strike="noStrike" spc="-1">
                <a:solidFill>
                  <a:srgbClr val="FFFFFF"/>
                </a:solidFill>
                <a:latin typeface="Aptos"/>
              </a:rPr>
              <a:t>B3</a:t>
            </a:r>
            <a:endParaRPr lang="en-US" sz="1400" b="0" strike="noStrike" spc="-1">
              <a:latin typeface="Arial"/>
            </a:endParaRPr>
          </a:p>
        </p:txBody>
      </p:sp>
      <p:sp>
        <p:nvSpPr>
          <p:cNvPr id="195" name="Text 16"/>
          <p:cNvSpPr/>
          <p:nvPr/>
        </p:nvSpPr>
        <p:spPr>
          <a:xfrm>
            <a:off x="1261800" y="3328560"/>
            <a:ext cx="2422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Log target</a:t>
            </a:r>
            <a:endParaRPr lang="en-US" sz="1400" b="0" strike="noStrike" spc="-1">
              <a:latin typeface="Arial"/>
            </a:endParaRPr>
          </a:p>
        </p:txBody>
      </p:sp>
      <p:sp>
        <p:nvSpPr>
          <p:cNvPr id="196" name="Text 17"/>
          <p:cNvSpPr/>
          <p:nvPr/>
        </p:nvSpPr>
        <p:spPr>
          <a:xfrm>
            <a:off x="530280" y="3931920"/>
            <a:ext cx="566640" cy="438480"/>
          </a:xfrm>
          <a:prstGeom prst="roundRect">
            <a:avLst>
              <a:gd name="adj" fmla="val 16667"/>
            </a:avLst>
          </a:prstGeom>
          <a:solidFill>
            <a:srgbClr val="D665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SG" sz="1400" b="1" strike="noStrike" spc="-1">
                <a:solidFill>
                  <a:srgbClr val="FFFFFF"/>
                </a:solidFill>
                <a:latin typeface="Aptos"/>
              </a:rPr>
              <a:t>B4</a:t>
            </a:r>
            <a:endParaRPr lang="en-US" sz="1400" b="0" strike="noStrike" spc="-1">
              <a:latin typeface="Arial"/>
            </a:endParaRPr>
          </a:p>
        </p:txBody>
      </p:sp>
      <p:sp>
        <p:nvSpPr>
          <p:cNvPr id="197" name="Text 18"/>
          <p:cNvSpPr/>
          <p:nvPr/>
        </p:nvSpPr>
        <p:spPr>
          <a:xfrm>
            <a:off x="1261800" y="3968640"/>
            <a:ext cx="2422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00" b="1" strike="noStrike" spc="-1">
                <a:solidFill>
                  <a:srgbClr val="173238"/>
                </a:solidFill>
                <a:latin typeface="Aptos"/>
              </a:rPr>
              <a:t>Historical address</a:t>
            </a:r>
            <a:endParaRPr lang="en-US" sz="1400" b="0" strike="noStrike" spc="-1">
              <a:latin typeface="Arial"/>
            </a:endParaRPr>
          </a:p>
        </p:txBody>
      </p:sp>
      <p:sp>
        <p:nvSpPr>
          <p:cNvPr id="198" name="Panel 19"/>
          <p:cNvSpPr/>
          <p:nvPr/>
        </p:nvSpPr>
        <p:spPr>
          <a:xfrm>
            <a:off x="530280" y="4773240"/>
            <a:ext cx="3135960" cy="81360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199" name="Text 20"/>
          <p:cNvSpPr/>
          <p:nvPr/>
        </p:nvSpPr>
        <p:spPr>
          <a:xfrm>
            <a:off x="713160" y="4892040"/>
            <a:ext cx="1298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200" b="1" strike="noStrike" spc="-1">
                <a:solidFill>
                  <a:srgbClr val="E4A64A"/>
                </a:solidFill>
                <a:latin typeface="Aptos"/>
              </a:rPr>
              <a:t>−22.6%</a:t>
            </a:r>
            <a:endParaRPr lang="en-US" sz="2200" b="0" strike="noStrike" spc="-1">
              <a:latin typeface="Arial"/>
            </a:endParaRPr>
          </a:p>
        </p:txBody>
      </p:sp>
      <p:sp>
        <p:nvSpPr>
          <p:cNvPr id="200" name="Text 21"/>
          <p:cNvSpPr/>
          <p:nvPr/>
        </p:nvSpPr>
        <p:spPr>
          <a:xfrm>
            <a:off x="1947600" y="4883040"/>
            <a:ext cx="1462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FFFFFF"/>
                </a:solidFill>
                <a:latin typeface="Aptos"/>
              </a:rPr>
              <a:t>2025 MAE</a:t>
            </a:r>
            <a:endParaRPr lang="en-US" sz="1050" b="0" strike="noStrike" spc="-1">
              <a:latin typeface="Arial"/>
            </a:endParaRPr>
          </a:p>
          <a:p>
            <a:pPr>
              <a:lnSpc>
                <a:spcPct val="100000"/>
              </a:lnSpc>
              <a:buNone/>
            </a:pPr>
            <a:r>
              <a:rPr lang="en-SG" sz="1050" b="0" strike="noStrike" spc="-1">
                <a:solidFill>
                  <a:srgbClr val="FFFFFF"/>
                </a:solidFill>
                <a:latin typeface="Aptos"/>
              </a:rPr>
              <a:t>59,789 → 46,298</a:t>
            </a:r>
            <a:endParaRPr lang="en-US" sz="105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201"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ERROR ANALYSIS BEFORE CLAIMING RELIABILITY</a:t>
            </a:r>
            <a:endParaRPr lang="en-US" sz="1050" b="0" strike="noStrike" spc="-1">
              <a:latin typeface="Arial"/>
            </a:endParaRPr>
          </a:p>
        </p:txBody>
      </p:sp>
      <p:sp>
        <p:nvSpPr>
          <p:cNvPr id="202"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Aggregate improvement concealed local failure</a:t>
            </a:r>
            <a:endParaRPr lang="en-US" sz="2700" b="0" strike="noStrike" spc="-1">
              <a:latin typeface="Arial"/>
            </a:endParaRPr>
          </a:p>
        </p:txBody>
      </p:sp>
      <p:sp>
        <p:nvSpPr>
          <p:cNvPr id="204"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205"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08</a:t>
            </a:r>
            <a:endParaRPr lang="en-US" sz="950" b="0" strike="noStrike" spc="-1">
              <a:latin typeface="Arial"/>
            </a:endParaRPr>
          </a:p>
        </p:txBody>
      </p:sp>
      <p:sp>
        <p:nvSpPr>
          <p:cNvPr id="206" name="Metric 7"/>
          <p:cNvSpPr/>
          <p:nvPr/>
        </p:nvSpPr>
        <p:spPr>
          <a:xfrm>
            <a:off x="502920" y="1280160"/>
            <a:ext cx="18831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07" name="Text 8"/>
          <p:cNvSpPr/>
          <p:nvPr/>
        </p:nvSpPr>
        <p:spPr>
          <a:xfrm>
            <a:off x="640080" y="136260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D6654F"/>
                </a:solidFill>
                <a:latin typeface="Aptos"/>
              </a:rPr>
              <a:t>+20,310</a:t>
            </a:r>
            <a:endParaRPr lang="en-US" sz="2300" b="0" strike="noStrike" spc="-1">
              <a:latin typeface="Arial"/>
            </a:endParaRPr>
          </a:p>
        </p:txBody>
      </p:sp>
      <p:sp>
        <p:nvSpPr>
          <p:cNvPr id="208" name="Text 9"/>
          <p:cNvSpPr/>
          <p:nvPr/>
        </p:nvSpPr>
        <p:spPr>
          <a:xfrm>
            <a:off x="640080" y="1774080"/>
            <a:ext cx="1608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BUKIT BATOK · B4−B0 MAE</a:t>
            </a:r>
            <a:endParaRPr lang="en-US" sz="1050" b="0" strike="noStrike" spc="-1">
              <a:latin typeface="Arial"/>
            </a:endParaRPr>
          </a:p>
        </p:txBody>
      </p:sp>
      <p:sp>
        <p:nvSpPr>
          <p:cNvPr id="209" name="Metric 10"/>
          <p:cNvSpPr/>
          <p:nvPr/>
        </p:nvSpPr>
        <p:spPr>
          <a:xfrm>
            <a:off x="2578680" y="1280160"/>
            <a:ext cx="18831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10" name="Text 11"/>
          <p:cNvSpPr/>
          <p:nvPr/>
        </p:nvSpPr>
        <p:spPr>
          <a:xfrm>
            <a:off x="2715840" y="136260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D6654F"/>
                </a:solidFill>
                <a:latin typeface="Aptos"/>
              </a:rPr>
              <a:t>+10,873</a:t>
            </a:r>
            <a:endParaRPr lang="en-US" sz="2300" b="0" strike="noStrike" spc="-1">
              <a:latin typeface="Arial"/>
            </a:endParaRPr>
          </a:p>
        </p:txBody>
      </p:sp>
      <p:sp>
        <p:nvSpPr>
          <p:cNvPr id="211" name="Text 12"/>
          <p:cNvSpPr/>
          <p:nvPr/>
        </p:nvSpPr>
        <p:spPr>
          <a:xfrm>
            <a:off x="2715840" y="1774080"/>
            <a:ext cx="1608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TAMPINES · B4−B0 MAE</a:t>
            </a:r>
            <a:endParaRPr lang="en-US" sz="1050" b="0" strike="noStrike" spc="-1">
              <a:latin typeface="Arial"/>
            </a:endParaRPr>
          </a:p>
        </p:txBody>
      </p:sp>
      <p:sp>
        <p:nvSpPr>
          <p:cNvPr id="212" name="Text 13"/>
          <p:cNvSpPr/>
          <p:nvPr/>
        </p:nvSpPr>
        <p:spPr>
          <a:xfrm>
            <a:off x="567000" y="255132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13" name="Text 14"/>
          <p:cNvSpPr/>
          <p:nvPr/>
        </p:nvSpPr>
        <p:spPr>
          <a:xfrm>
            <a:off x="822960" y="2532960"/>
            <a:ext cx="3611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Deterioration persists across all 12 months.</a:t>
            </a:r>
            <a:endParaRPr lang="en-US" sz="1500" b="0" strike="noStrike" spc="-1">
              <a:latin typeface="Arial"/>
            </a:endParaRPr>
          </a:p>
        </p:txBody>
      </p:sp>
      <p:sp>
        <p:nvSpPr>
          <p:cNvPr id="214" name="Text 15"/>
          <p:cNvSpPr/>
          <p:nvPr/>
        </p:nvSpPr>
        <p:spPr>
          <a:xfrm>
            <a:off x="567000" y="316368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15" name="Text 16"/>
          <p:cNvSpPr/>
          <p:nvPr/>
        </p:nvSpPr>
        <p:spPr>
          <a:xfrm>
            <a:off x="822960" y="3145680"/>
            <a:ext cx="3611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Common 4 ROOM and 5 ROOM groups dominate.</a:t>
            </a:r>
            <a:endParaRPr lang="en-US" sz="1500" b="0" strike="noStrike" spc="-1">
              <a:latin typeface="Arial"/>
            </a:endParaRPr>
          </a:p>
        </p:txBody>
      </p:sp>
      <p:sp>
        <p:nvSpPr>
          <p:cNvPr id="216" name="Text 17"/>
          <p:cNvSpPr/>
          <p:nvPr/>
        </p:nvSpPr>
        <p:spPr>
          <a:xfrm>
            <a:off x="567000" y="377640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17" name="Text 18"/>
          <p:cNvSpPr/>
          <p:nvPr/>
        </p:nvSpPr>
        <p:spPr>
          <a:xfrm>
            <a:off x="822960" y="3758040"/>
            <a:ext cx="3611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Mix standardization explains little.</a:t>
            </a:r>
            <a:endParaRPr lang="en-US" sz="1500" b="0" strike="noStrike" spc="-1">
              <a:latin typeface="Arial"/>
            </a:endParaRPr>
          </a:p>
        </p:txBody>
      </p:sp>
      <p:sp>
        <p:nvSpPr>
          <p:cNvPr id="218" name="Panel 19"/>
          <p:cNvSpPr/>
          <p:nvPr/>
        </p:nvSpPr>
        <p:spPr>
          <a:xfrm>
            <a:off x="567000" y="4590360"/>
            <a:ext cx="3840120" cy="95976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219" name="Text 20"/>
          <p:cNvSpPr/>
          <p:nvPr/>
        </p:nvSpPr>
        <p:spPr>
          <a:xfrm>
            <a:off x="768240" y="4727520"/>
            <a:ext cx="14443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750" b="1" strike="noStrike" spc="-1">
                <a:solidFill>
                  <a:srgbClr val="E4A64A"/>
                </a:solidFill>
                <a:latin typeface="Aptos"/>
              </a:rPr>
              <a:t>+330 → +14,603</a:t>
            </a:r>
            <a:endParaRPr lang="en-US" sz="1750" b="0" strike="noStrike" spc="-1">
              <a:latin typeface="Arial"/>
            </a:endParaRPr>
          </a:p>
        </p:txBody>
      </p:sp>
      <p:sp>
        <p:nvSpPr>
          <p:cNvPr id="220" name="Text 21"/>
          <p:cNvSpPr/>
          <p:nvPr/>
        </p:nvSpPr>
        <p:spPr>
          <a:xfrm>
            <a:off x="2258640" y="4718160"/>
            <a:ext cx="19015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FFFFFF"/>
                </a:solidFill>
                <a:latin typeface="Aptos"/>
              </a:rPr>
              <a:t>Signed error when nominal</a:t>
            </a:r>
            <a:endParaRPr lang="en-US" sz="1050" b="0" strike="noStrike" spc="-1">
              <a:latin typeface="Arial"/>
            </a:endParaRPr>
          </a:p>
          <a:p>
            <a:pPr>
              <a:lnSpc>
                <a:spcPct val="100000"/>
              </a:lnSpc>
              <a:buNone/>
            </a:pPr>
            <a:r>
              <a:rPr lang="en-SG" sz="1050" b="0" strike="noStrike" spc="-1">
                <a:solidFill>
                  <a:srgbClr val="FFFFFF"/>
                </a:solidFill>
                <a:latin typeface="Aptos"/>
              </a:rPr>
              <a:t>address encoding enters</a:t>
            </a:r>
            <a:endParaRPr lang="en-US" sz="1050" b="0" strike="noStrike" spc="-1">
              <a:latin typeface="Arial"/>
            </a:endParaRPr>
          </a:p>
        </p:txBody>
      </p:sp>
      <p:sp>
        <p:nvSpPr>
          <p:cNvPr id="221" name="Figure card 22"/>
          <p:cNvSpPr/>
          <p:nvPr/>
        </p:nvSpPr>
        <p:spPr>
          <a:xfrm>
            <a:off x="4663440" y="1280160"/>
            <a:ext cx="6491880" cy="21668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222" name="Figure 23" descr="Preparation-stage errors overall and in two focus Towns"/>
          <p:cNvPicPr/>
          <p:nvPr/>
        </p:nvPicPr>
        <p:blipFill>
          <a:blip r:embed="rId3"/>
          <a:stretch/>
        </p:blipFill>
        <p:spPr>
          <a:xfrm>
            <a:off x="4773618" y="1424619"/>
            <a:ext cx="6271523" cy="1877921"/>
          </a:xfrm>
          <a:prstGeom prst="rect">
            <a:avLst/>
          </a:prstGeom>
          <a:ln w="0">
            <a:noFill/>
          </a:ln>
        </p:spPr>
      </p:pic>
      <p:sp>
        <p:nvSpPr>
          <p:cNvPr id="223" name="Figure card 24"/>
          <p:cNvSpPr/>
          <p:nvPr/>
        </p:nvSpPr>
        <p:spPr>
          <a:xfrm>
            <a:off x="4663440" y="3611880"/>
            <a:ext cx="6491880" cy="198396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224" name="Figure 25" descr="Prediction decomposition and frozen-history sensitivity"/>
          <p:cNvPicPr/>
          <p:nvPr/>
        </p:nvPicPr>
        <p:blipFill>
          <a:blip r:embed="rId4"/>
          <a:stretch/>
        </p:blipFill>
        <p:spPr>
          <a:xfrm>
            <a:off x="4955040" y="3611880"/>
            <a:ext cx="5909040" cy="198396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225"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DIAGNOSE → REDESIGN → VALIDATE</a:t>
            </a:r>
            <a:endParaRPr lang="en-US" sz="1050" b="0" strike="noStrike" spc="-1">
              <a:latin typeface="Arial"/>
            </a:endParaRPr>
          </a:p>
        </p:txBody>
      </p:sp>
      <p:sp>
        <p:nvSpPr>
          <p:cNvPr id="226"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Remove market time from the address feature</a:t>
            </a:r>
            <a:endParaRPr lang="en-US" sz="2700" b="0" strike="noStrike" spc="-1">
              <a:latin typeface="Arial"/>
            </a:endParaRPr>
          </a:p>
        </p:txBody>
      </p:sp>
      <p:sp>
        <p:nvSpPr>
          <p:cNvPr id="228"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229"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09</a:t>
            </a:r>
            <a:endParaRPr lang="en-US" sz="950" b="0" strike="noStrike" spc="-1">
              <a:latin typeface="Arial"/>
            </a:endParaRPr>
          </a:p>
        </p:txBody>
      </p:sp>
      <p:sp>
        <p:nvSpPr>
          <p:cNvPr id="230" name="Panel 7"/>
          <p:cNvSpPr/>
          <p:nvPr/>
        </p:nvSpPr>
        <p:spPr>
          <a:xfrm>
            <a:off x="502920" y="1280160"/>
            <a:ext cx="3547440" cy="941400"/>
          </a:xfrm>
          <a:prstGeom prst="roundRect">
            <a:avLst>
              <a:gd name="adj" fmla="val 16667"/>
            </a:avLst>
          </a:prstGeom>
          <a:solidFill>
            <a:srgbClr val="173238"/>
          </a:solidFill>
          <a:ln w="0">
            <a:noFill/>
          </a:ln>
        </p:spPr>
        <p:style>
          <a:lnRef idx="0">
            <a:scrgbClr r="0" g="0" b="0"/>
          </a:lnRef>
          <a:fillRef idx="0">
            <a:scrgbClr r="0" g="0" b="0"/>
          </a:fillRef>
          <a:effectRef idx="0">
            <a:scrgbClr r="0" g="0" b="0"/>
          </a:effectRef>
          <a:fontRef idx="minor"/>
        </p:style>
      </p:sp>
      <p:sp>
        <p:nvSpPr>
          <p:cNvPr id="231" name="Text 8"/>
          <p:cNvSpPr/>
          <p:nvPr/>
        </p:nvSpPr>
        <p:spPr>
          <a:xfrm>
            <a:off x="713160" y="1426320"/>
            <a:ext cx="1188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100" b="1" strike="noStrike" spc="-1">
                <a:solidFill>
                  <a:srgbClr val="E4A64A"/>
                </a:solidFill>
                <a:latin typeface="Aptos"/>
              </a:rPr>
              <a:t>0.195 → −0.001</a:t>
            </a:r>
            <a:endParaRPr lang="en-US" sz="2100" b="0" strike="noStrike" spc="-1">
              <a:latin typeface="Arial"/>
            </a:endParaRPr>
          </a:p>
        </p:txBody>
      </p:sp>
      <p:sp>
        <p:nvSpPr>
          <p:cNvPr id="232" name="Text 9"/>
          <p:cNvSpPr/>
          <p:nvPr/>
        </p:nvSpPr>
        <p:spPr>
          <a:xfrm>
            <a:off x="1901880" y="1435680"/>
            <a:ext cx="1846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FFFFFF"/>
                </a:solidFill>
                <a:latin typeface="Aptos"/>
              </a:rPr>
              <a:t>Feature–time correlation</a:t>
            </a:r>
            <a:endParaRPr lang="en-US" sz="1050" b="0" strike="noStrike" spc="-1">
              <a:latin typeface="Arial"/>
            </a:endParaRPr>
          </a:p>
          <a:p>
            <a:pPr>
              <a:lnSpc>
                <a:spcPct val="100000"/>
              </a:lnSpc>
              <a:buNone/>
            </a:pPr>
            <a:r>
              <a:rPr lang="en-SG" sz="1050" b="0" strike="noStrike" spc="-1">
                <a:solidFill>
                  <a:srgbClr val="FFFFFF"/>
                </a:solidFill>
                <a:latin typeface="Aptos"/>
              </a:rPr>
              <a:t>nominal → residual</a:t>
            </a:r>
            <a:endParaRPr lang="en-US" sz="1050" b="0" strike="noStrike" spc="-1">
              <a:latin typeface="Arial"/>
            </a:endParaRPr>
          </a:p>
        </p:txBody>
      </p:sp>
      <p:sp>
        <p:nvSpPr>
          <p:cNvPr id="233" name="Metric 10"/>
          <p:cNvSpPr/>
          <p:nvPr/>
        </p:nvSpPr>
        <p:spPr>
          <a:xfrm>
            <a:off x="502920" y="2450520"/>
            <a:ext cx="164556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34" name="Text 11"/>
          <p:cNvSpPr/>
          <p:nvPr/>
        </p:nvSpPr>
        <p:spPr>
          <a:xfrm>
            <a:off x="640080" y="2532960"/>
            <a:ext cx="1371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5E6E70"/>
                </a:solidFill>
                <a:latin typeface="Aptos"/>
              </a:rPr>
              <a:t>47,232</a:t>
            </a:r>
            <a:endParaRPr lang="en-US" sz="2300" b="0" strike="noStrike" spc="-1">
              <a:latin typeface="Arial"/>
            </a:endParaRPr>
          </a:p>
        </p:txBody>
      </p:sp>
      <p:sp>
        <p:nvSpPr>
          <p:cNvPr id="235" name="Text 12"/>
          <p:cNvSpPr/>
          <p:nvPr/>
        </p:nvSpPr>
        <p:spPr>
          <a:xfrm>
            <a:off x="640080" y="2944440"/>
            <a:ext cx="137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NO ADDRESS MAE</a:t>
            </a:r>
            <a:endParaRPr lang="en-US" sz="1050" b="0" strike="noStrike" spc="-1">
              <a:latin typeface="Arial"/>
            </a:endParaRPr>
          </a:p>
        </p:txBody>
      </p:sp>
      <p:sp>
        <p:nvSpPr>
          <p:cNvPr id="236" name="Metric 13"/>
          <p:cNvSpPr/>
          <p:nvPr/>
        </p:nvSpPr>
        <p:spPr>
          <a:xfrm>
            <a:off x="2340720" y="2450520"/>
            <a:ext cx="170964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37" name="Text 14"/>
          <p:cNvSpPr/>
          <p:nvPr/>
        </p:nvSpPr>
        <p:spPr>
          <a:xfrm>
            <a:off x="2477880" y="2532960"/>
            <a:ext cx="1435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1D5C59"/>
                </a:solidFill>
                <a:latin typeface="Aptos"/>
              </a:rPr>
              <a:t>31,606</a:t>
            </a:r>
            <a:endParaRPr lang="en-US" sz="2300" b="0" strike="noStrike" spc="-1">
              <a:latin typeface="Arial"/>
            </a:endParaRPr>
          </a:p>
        </p:txBody>
      </p:sp>
      <p:sp>
        <p:nvSpPr>
          <p:cNvPr id="238" name="Text 15"/>
          <p:cNvSpPr/>
          <p:nvPr/>
        </p:nvSpPr>
        <p:spPr>
          <a:xfrm>
            <a:off x="2477880" y="2944440"/>
            <a:ext cx="1435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RESIDUAL ADDRESS MAE</a:t>
            </a:r>
            <a:endParaRPr lang="en-US" sz="1050" b="0" strike="noStrike" spc="-1">
              <a:latin typeface="Arial"/>
            </a:endParaRPr>
          </a:p>
        </p:txBody>
      </p:sp>
      <p:sp>
        <p:nvSpPr>
          <p:cNvPr id="239" name="Text 16"/>
          <p:cNvSpPr/>
          <p:nvPr/>
        </p:nvSpPr>
        <p:spPr>
          <a:xfrm>
            <a:off x="567000" y="370332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40" name="Text 17"/>
          <p:cNvSpPr/>
          <p:nvPr/>
        </p:nvSpPr>
        <p:spPr>
          <a:xfrm>
            <a:off x="822960" y="3684960"/>
            <a:ext cx="3172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50" b="0" strike="noStrike" spc="-1">
                <a:solidFill>
                  <a:srgbClr val="173238"/>
                </a:solidFill>
                <a:latin typeface="Aptos"/>
              </a:rPr>
              <a:t>N3 uses strictly earlier-year residuals.</a:t>
            </a:r>
            <a:endParaRPr lang="en-US" sz="1450" b="0" strike="noStrike" spc="-1">
              <a:latin typeface="Arial"/>
            </a:endParaRPr>
          </a:p>
        </p:txBody>
      </p:sp>
      <p:sp>
        <p:nvSpPr>
          <p:cNvPr id="241" name="Text 18"/>
          <p:cNvSpPr/>
          <p:nvPr/>
        </p:nvSpPr>
        <p:spPr>
          <a:xfrm>
            <a:off x="567000" y="431604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42" name="Text 19"/>
          <p:cNvSpPr/>
          <p:nvPr/>
        </p:nvSpPr>
        <p:spPr>
          <a:xfrm>
            <a:off x="822960" y="4297680"/>
            <a:ext cx="3172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50" b="0" strike="noStrike" spc="-1">
                <a:solidFill>
                  <a:srgbClr val="173238"/>
                </a:solidFill>
                <a:latin typeface="Aptos"/>
              </a:rPr>
              <a:t>Selected on 2024 validation only.</a:t>
            </a:r>
            <a:endParaRPr lang="en-US" sz="1450" b="0" strike="noStrike" spc="-1">
              <a:latin typeface="Arial"/>
            </a:endParaRPr>
          </a:p>
        </p:txBody>
      </p:sp>
      <p:sp>
        <p:nvSpPr>
          <p:cNvPr id="243" name="Text 20"/>
          <p:cNvSpPr/>
          <p:nvPr/>
        </p:nvSpPr>
        <p:spPr>
          <a:xfrm>
            <a:off x="567000" y="492876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44" name="Text 21"/>
          <p:cNvSpPr/>
          <p:nvPr/>
        </p:nvSpPr>
        <p:spPr>
          <a:xfrm>
            <a:off x="822960" y="4910400"/>
            <a:ext cx="3172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450" b="0" strike="noStrike" spc="-1">
                <a:solidFill>
                  <a:srgbClr val="173238"/>
                </a:solidFill>
                <a:latin typeface="Aptos"/>
              </a:rPr>
              <a:t>Lowest MAE in 3 of 4 origins.</a:t>
            </a:r>
            <a:endParaRPr lang="en-US" sz="1450" b="0" strike="noStrike" spc="-1">
              <a:latin typeface="Arial"/>
            </a:endParaRPr>
          </a:p>
        </p:txBody>
      </p:sp>
      <p:sp>
        <p:nvSpPr>
          <p:cNvPr id="245" name="Figure card 22"/>
          <p:cNvSpPr/>
          <p:nvPr/>
        </p:nvSpPr>
        <p:spPr>
          <a:xfrm>
            <a:off x="4325040" y="1280160"/>
            <a:ext cx="6830280" cy="215748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246" name="Figure 23" descr="Time-normalized address encoding results"/>
          <p:cNvPicPr/>
          <p:nvPr/>
        </p:nvPicPr>
        <p:blipFill>
          <a:blip r:embed="rId3"/>
          <a:stretch/>
        </p:blipFill>
        <p:spPr>
          <a:xfrm>
            <a:off x="4520532" y="1441080"/>
            <a:ext cx="6540554" cy="1835640"/>
          </a:xfrm>
          <a:prstGeom prst="rect">
            <a:avLst/>
          </a:prstGeom>
          <a:ln w="0">
            <a:noFill/>
          </a:ln>
        </p:spPr>
      </p:pic>
      <p:sp>
        <p:nvSpPr>
          <p:cNvPr id="247" name="Figure card 24"/>
          <p:cNvSpPr/>
          <p:nvPr/>
        </p:nvSpPr>
        <p:spPr>
          <a:xfrm>
            <a:off x="4325040" y="3602880"/>
            <a:ext cx="6830280" cy="199296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248" name="Figure 25" descr="Rolling-origin MAE and signed error"/>
          <p:cNvPicPr/>
          <p:nvPr/>
        </p:nvPicPr>
        <p:blipFill>
          <a:blip r:embed="rId4"/>
          <a:stretch/>
        </p:blipFill>
        <p:spPr>
          <a:xfrm>
            <a:off x="4914360" y="3602880"/>
            <a:ext cx="5652000" cy="199296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4F0E8"/>
        </a:solidFill>
        <a:effectLst/>
      </p:bgPr>
    </p:bg>
    <p:spTree>
      <p:nvGrpSpPr>
        <p:cNvPr id="1" name=""/>
        <p:cNvGrpSpPr/>
        <p:nvPr/>
      </p:nvGrpSpPr>
      <p:grpSpPr>
        <a:xfrm>
          <a:off x="0" y="0"/>
          <a:ext cx="0" cy="0"/>
          <a:chOff x="0" y="0"/>
          <a:chExt cx="0" cy="0"/>
        </a:xfrm>
      </p:grpSpPr>
      <p:sp>
        <p:nvSpPr>
          <p:cNvPr id="249" name="Text 2"/>
          <p:cNvSpPr/>
          <p:nvPr/>
        </p:nvSpPr>
        <p:spPr>
          <a:xfrm>
            <a:off x="411480" y="182880"/>
            <a:ext cx="7954920" cy="27396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1050" b="1" strike="noStrike" spc="-1">
                <a:solidFill>
                  <a:srgbClr val="3A7771"/>
                </a:solidFill>
                <a:latin typeface="Aptos"/>
              </a:rPr>
              <a:t>PRIVACY–UTILITY TRADE-OFF</a:t>
            </a:r>
            <a:endParaRPr lang="en-US" sz="1050" b="0" strike="noStrike" spc="-1">
              <a:latin typeface="Arial"/>
            </a:endParaRPr>
          </a:p>
        </p:txBody>
      </p:sp>
      <p:sp>
        <p:nvSpPr>
          <p:cNvPr id="250" name="Text 3"/>
          <p:cNvSpPr/>
          <p:nvPr/>
        </p:nvSpPr>
        <p:spPr>
          <a:xfrm>
            <a:off x="411480" y="475560"/>
            <a:ext cx="9966600" cy="529920"/>
          </a:xfrm>
          <a:prstGeom prst="rect">
            <a:avLst/>
          </a:prstGeom>
          <a:noFill/>
          <a:ln w="0">
            <a:noFill/>
          </a:ln>
        </p:spPr>
        <p:style>
          <a:lnRef idx="0">
            <a:scrgbClr r="0" g="0" b="0"/>
          </a:lnRef>
          <a:fillRef idx="0">
            <a:scrgbClr r="0" g="0" b="0"/>
          </a:fillRef>
          <a:effectRef idx="0">
            <a:scrgbClr r="0" g="0" b="0"/>
          </a:effectRef>
          <a:fontRef idx="minor"/>
        </p:style>
        <p:txBody>
          <a:bodyPr lIns="73080" tIns="73080" rIns="73080" bIns="73080" anchor="t">
            <a:noAutofit/>
          </a:bodyPr>
          <a:lstStyle/>
          <a:p>
            <a:pPr>
              <a:lnSpc>
                <a:spcPct val="100000"/>
              </a:lnSpc>
              <a:buNone/>
            </a:pPr>
            <a:r>
              <a:rPr lang="en-SG" sz="2700" b="1" strike="noStrike" spc="-1">
                <a:solidFill>
                  <a:srgbClr val="173238"/>
                </a:solidFill>
                <a:latin typeface="Aptos"/>
              </a:rPr>
              <a:t>Block precision has a measurable governance cost</a:t>
            </a:r>
            <a:endParaRPr lang="en-US" sz="2700" b="0" strike="noStrike" spc="-1">
              <a:latin typeface="Arial"/>
            </a:endParaRPr>
          </a:p>
        </p:txBody>
      </p:sp>
      <p:sp>
        <p:nvSpPr>
          <p:cNvPr id="251" name="Text 4"/>
          <p:cNvSpPr/>
          <p:nvPr/>
        </p:nvSpPr>
        <p:spPr>
          <a:xfrm>
            <a:off x="9738360" y="219600"/>
            <a:ext cx="2011320" cy="292320"/>
          </a:xfrm>
          <a:prstGeom prst="roundRect">
            <a:avLst>
              <a:gd name="adj" fmla="val 16667"/>
            </a:avLst>
          </a:prstGeom>
          <a:solidFill>
            <a:srgbClr val="1D5C59"/>
          </a:solidFill>
          <a:ln w="0">
            <a:noFill/>
          </a:ln>
        </p:spPr>
        <p:style>
          <a:lnRef idx="0">
            <a:scrgbClr r="0" g="0" b="0"/>
          </a:lnRef>
          <a:fillRef idx="0">
            <a:scrgbClr r="0" g="0" b="0"/>
          </a:fillRef>
          <a:effectRef idx="0">
            <a:scrgbClr r="0" g="0" b="0"/>
          </a:effectRef>
          <a:fontRef idx="minor"/>
        </p:style>
        <p:txBody>
          <a:bodyPr lIns="18360" tIns="18360" rIns="18360" bIns="18360" anchor="ctr">
            <a:noAutofit/>
          </a:bodyPr>
          <a:lstStyle/>
          <a:p>
            <a:pPr algn="ctr">
              <a:lnSpc>
                <a:spcPct val="100000"/>
              </a:lnSpc>
              <a:buNone/>
            </a:pPr>
            <a:r>
              <a:rPr lang="en-SG" sz="950" b="1" strike="noStrike" spc="-1">
                <a:solidFill>
                  <a:srgbClr val="FFFFFF"/>
                </a:solidFill>
                <a:latin typeface="Aptos"/>
              </a:rPr>
              <a:t>TomoyoCin  ·  9:45–10:40</a:t>
            </a:r>
            <a:endParaRPr lang="en-US" sz="950" b="0" strike="noStrike" spc="-1">
              <a:latin typeface="Arial"/>
            </a:endParaRPr>
          </a:p>
        </p:txBody>
      </p:sp>
      <p:sp>
        <p:nvSpPr>
          <p:cNvPr id="252" name="Line 5"/>
          <p:cNvSpPr/>
          <p:nvPr/>
        </p:nvSpPr>
        <p:spPr>
          <a:xfrm>
            <a:off x="411480" y="1042200"/>
            <a:ext cx="11365920" cy="360"/>
          </a:xfrm>
          <a:prstGeom prst="line">
            <a:avLst/>
          </a:prstGeom>
          <a:ln w="12700">
            <a:solidFill>
              <a:srgbClr val="D6DDD9"/>
            </a:solidFill>
            <a:round/>
          </a:ln>
        </p:spPr>
        <p:style>
          <a:lnRef idx="0">
            <a:scrgbClr r="0" g="0" b="0"/>
          </a:lnRef>
          <a:fillRef idx="0">
            <a:scrgbClr r="0" g="0" b="0"/>
          </a:fillRef>
          <a:effectRef idx="0">
            <a:scrgbClr r="0" g="0" b="0"/>
          </a:effectRef>
          <a:fontRef idx="minor"/>
        </p:style>
      </p:sp>
      <p:sp>
        <p:nvSpPr>
          <p:cNvPr id="253" name="Text 6"/>
          <p:cNvSpPr/>
          <p:nvPr/>
        </p:nvSpPr>
        <p:spPr>
          <a:xfrm>
            <a:off x="11356920" y="5925240"/>
            <a:ext cx="42012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5E6E70"/>
                </a:solidFill>
                <a:latin typeface="Aptos"/>
              </a:rPr>
              <a:t>10</a:t>
            </a:r>
            <a:endParaRPr lang="en-US" sz="950" b="0" strike="noStrike" spc="-1">
              <a:latin typeface="Arial"/>
            </a:endParaRPr>
          </a:p>
        </p:txBody>
      </p:sp>
      <p:sp>
        <p:nvSpPr>
          <p:cNvPr id="254" name="Metric 7"/>
          <p:cNvSpPr/>
          <p:nvPr/>
        </p:nvSpPr>
        <p:spPr>
          <a:xfrm>
            <a:off x="502920" y="1325880"/>
            <a:ext cx="190152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55" name="Text 8"/>
          <p:cNvSpPr/>
          <p:nvPr/>
        </p:nvSpPr>
        <p:spPr>
          <a:xfrm>
            <a:off x="640080" y="1408320"/>
            <a:ext cx="162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D6654F"/>
                </a:solidFill>
                <a:latin typeface="Aptos"/>
              </a:rPr>
              <a:t>95.1%</a:t>
            </a:r>
            <a:endParaRPr lang="en-US" sz="2300" b="0" strike="noStrike" spc="-1">
              <a:latin typeface="Arial"/>
            </a:endParaRPr>
          </a:p>
        </p:txBody>
      </p:sp>
      <p:sp>
        <p:nvSpPr>
          <p:cNvPr id="256" name="Text 9"/>
          <p:cNvSpPr/>
          <p:nvPr/>
        </p:nvSpPr>
        <p:spPr>
          <a:xfrm>
            <a:off x="640080" y="1819800"/>
            <a:ext cx="162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UNIQUE AT BLOCK LEVEL</a:t>
            </a:r>
            <a:endParaRPr lang="en-US" sz="1050" b="0" strike="noStrike" spc="-1">
              <a:latin typeface="Arial"/>
            </a:endParaRPr>
          </a:p>
        </p:txBody>
      </p:sp>
      <p:sp>
        <p:nvSpPr>
          <p:cNvPr id="257" name="Metric 10"/>
          <p:cNvSpPr/>
          <p:nvPr/>
        </p:nvSpPr>
        <p:spPr>
          <a:xfrm>
            <a:off x="2597040" y="1325880"/>
            <a:ext cx="1901520" cy="914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sp>
        <p:nvSpPr>
          <p:cNvPr id="258" name="Text 11"/>
          <p:cNvSpPr/>
          <p:nvPr/>
        </p:nvSpPr>
        <p:spPr>
          <a:xfrm>
            <a:off x="2734200" y="1408320"/>
            <a:ext cx="162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300" b="1" strike="noStrike" spc="-1">
                <a:solidFill>
                  <a:srgbClr val="1D5C59"/>
                </a:solidFill>
                <a:latin typeface="Aptos"/>
              </a:rPr>
              <a:t>60.1%</a:t>
            </a:r>
            <a:endParaRPr lang="en-US" sz="2300" b="0" strike="noStrike" spc="-1">
              <a:latin typeface="Arial"/>
            </a:endParaRPr>
          </a:p>
        </p:txBody>
      </p:sp>
      <p:sp>
        <p:nvSpPr>
          <p:cNvPr id="259" name="Text 12"/>
          <p:cNvSpPr/>
          <p:nvPr/>
        </p:nvSpPr>
        <p:spPr>
          <a:xfrm>
            <a:off x="2734200" y="1819800"/>
            <a:ext cx="162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0" strike="noStrike" spc="-1">
                <a:solidFill>
                  <a:srgbClr val="5E6E70"/>
                </a:solidFill>
                <a:latin typeface="Aptos"/>
              </a:rPr>
              <a:t>UNIQUE AT STREET LEVEL</a:t>
            </a:r>
            <a:endParaRPr lang="en-US" sz="1050" b="0" strike="noStrike" spc="-1">
              <a:latin typeface="Arial"/>
            </a:endParaRPr>
          </a:p>
        </p:txBody>
      </p:sp>
      <p:sp>
        <p:nvSpPr>
          <p:cNvPr id="260" name="Text 13"/>
          <p:cNvSpPr/>
          <p:nvPr/>
        </p:nvSpPr>
        <p:spPr>
          <a:xfrm>
            <a:off x="567000" y="259704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61" name="Text 14"/>
          <p:cNvSpPr/>
          <p:nvPr/>
        </p:nvSpPr>
        <p:spPr>
          <a:xfrm>
            <a:off x="822960" y="2578680"/>
            <a:ext cx="3602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Street retains 74.5% of the address gain.</a:t>
            </a:r>
            <a:endParaRPr lang="en-US" sz="1500" b="0" strike="noStrike" spc="-1">
              <a:latin typeface="Arial"/>
            </a:endParaRPr>
          </a:p>
        </p:txBody>
      </p:sp>
      <p:sp>
        <p:nvSpPr>
          <p:cNvPr id="262" name="Text 15"/>
          <p:cNvSpPr/>
          <p:nvPr/>
        </p:nvSpPr>
        <p:spPr>
          <a:xfrm>
            <a:off x="567000" y="323712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63" name="Text 16"/>
          <p:cNvSpPr/>
          <p:nvPr/>
        </p:nvSpPr>
        <p:spPr>
          <a:xfrm>
            <a:off x="822960" y="3218760"/>
            <a:ext cx="3602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Block adds SGD 3,989 of MAE improvement.</a:t>
            </a:r>
            <a:endParaRPr lang="en-US" sz="1500" b="0" strike="noStrike" spc="-1">
              <a:latin typeface="Arial"/>
            </a:endParaRPr>
          </a:p>
        </p:txBody>
      </p:sp>
      <p:sp>
        <p:nvSpPr>
          <p:cNvPr id="264" name="Text 17"/>
          <p:cNvSpPr/>
          <p:nvPr/>
        </p:nvSpPr>
        <p:spPr>
          <a:xfrm>
            <a:off x="567000" y="3877200"/>
            <a:ext cx="209880" cy="22824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nSpc>
                <a:spcPct val="100000"/>
              </a:lnSpc>
              <a:buNone/>
            </a:pPr>
            <a:r>
              <a:rPr lang="en-SG" sz="800" b="0" strike="noStrike" spc="-1">
                <a:solidFill>
                  <a:srgbClr val="D6654F"/>
                </a:solidFill>
                <a:latin typeface="Aptos"/>
              </a:rPr>
              <a:t>●</a:t>
            </a:r>
            <a:endParaRPr lang="en-US" sz="800" b="0" strike="noStrike" spc="-1">
              <a:latin typeface="Arial"/>
            </a:endParaRPr>
          </a:p>
        </p:txBody>
      </p:sp>
      <p:sp>
        <p:nvSpPr>
          <p:cNvPr id="265" name="Text 18"/>
          <p:cNvSpPr/>
          <p:nvPr/>
        </p:nvSpPr>
        <p:spPr>
          <a:xfrm>
            <a:off x="822960" y="3858840"/>
            <a:ext cx="3602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500" b="0" strike="noStrike" spc="-1">
                <a:solidFill>
                  <a:srgbClr val="173238"/>
                </a:solidFill>
                <a:latin typeface="Aptos"/>
              </a:rPr>
              <a:t>Block raises uniqueness by 35.0 points.</a:t>
            </a:r>
            <a:endParaRPr lang="en-US" sz="1500" b="0" strike="noStrike" spc="-1">
              <a:latin typeface="Arial"/>
            </a:endParaRPr>
          </a:p>
        </p:txBody>
      </p:sp>
      <p:sp>
        <p:nvSpPr>
          <p:cNvPr id="266" name="Panel 19"/>
          <p:cNvSpPr/>
          <p:nvPr/>
        </p:nvSpPr>
        <p:spPr>
          <a:xfrm>
            <a:off x="567000" y="4681800"/>
            <a:ext cx="3858480" cy="895680"/>
          </a:xfrm>
          <a:prstGeom prst="roundRect">
            <a:avLst>
              <a:gd name="adj" fmla="val 16667"/>
            </a:avLst>
          </a:prstGeom>
          <a:solidFill>
            <a:srgbClr val="DDE9E5"/>
          </a:solidFill>
          <a:ln w="12700">
            <a:solidFill>
              <a:srgbClr val="1D5C59"/>
            </a:solidFill>
            <a:round/>
          </a:ln>
        </p:spPr>
        <p:style>
          <a:lnRef idx="0">
            <a:scrgbClr r="0" g="0" b="0"/>
          </a:lnRef>
          <a:fillRef idx="0">
            <a:scrgbClr r="0" g="0" b="0"/>
          </a:fillRef>
          <a:effectRef idx="0">
            <a:scrgbClr r="0" g="0" b="0"/>
          </a:effectRef>
          <a:fontRef idx="minor"/>
        </p:style>
      </p:sp>
      <p:sp>
        <p:nvSpPr>
          <p:cNvPr id="267" name="Text 20"/>
          <p:cNvSpPr/>
          <p:nvPr/>
        </p:nvSpPr>
        <p:spPr>
          <a:xfrm>
            <a:off x="768240" y="4864680"/>
            <a:ext cx="3474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250" b="1" strike="noStrike" spc="-1">
                <a:solidFill>
                  <a:srgbClr val="173238"/>
                </a:solidFill>
                <a:latin typeface="Aptos"/>
              </a:rPr>
              <a:t>Street precision is a plausible policy compromise—subject to further testing.</a:t>
            </a:r>
            <a:endParaRPr lang="en-US" sz="1250" b="0" strike="noStrike" spc="-1">
              <a:latin typeface="Arial"/>
            </a:endParaRPr>
          </a:p>
        </p:txBody>
      </p:sp>
      <p:sp>
        <p:nvSpPr>
          <p:cNvPr id="268" name="Figure card 21"/>
          <p:cNvSpPr/>
          <p:nvPr/>
        </p:nvSpPr>
        <p:spPr>
          <a:xfrm>
            <a:off x="4700160" y="1280160"/>
            <a:ext cx="6418800" cy="4343040"/>
          </a:xfrm>
          <a:prstGeom prst="roundRect">
            <a:avLst>
              <a:gd name="adj" fmla="val 16667"/>
            </a:avLst>
          </a:prstGeom>
          <a:solidFill>
            <a:srgbClr val="FFFFFF"/>
          </a:solidFill>
          <a:ln w="12700">
            <a:solidFill>
              <a:srgbClr val="D6DDD9"/>
            </a:solidFill>
            <a:round/>
          </a:ln>
        </p:spPr>
        <p:style>
          <a:lnRef idx="0">
            <a:scrgbClr r="0" g="0" b="0"/>
          </a:lnRef>
          <a:fillRef idx="0">
            <a:scrgbClr r="0" g="0" b="0"/>
          </a:fillRef>
          <a:effectRef idx="0">
            <a:scrgbClr r="0" g="0" b="0"/>
          </a:effectRef>
          <a:fontRef idx="minor"/>
        </p:style>
      </p:sp>
      <p:pic>
        <p:nvPicPr>
          <p:cNvPr id="269" name="Figure 22" descr="Privacy-utility frontier for Town, Street and Block precision"/>
          <p:cNvPicPr/>
          <p:nvPr/>
        </p:nvPicPr>
        <p:blipFill>
          <a:blip r:embed="rId3"/>
          <a:stretch/>
        </p:blipFill>
        <p:spPr>
          <a:xfrm>
            <a:off x="5141594" y="1591020"/>
            <a:ext cx="5818593" cy="3676779"/>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173238"/>
        </a:solidFill>
        <a:effectLst/>
      </p:bgPr>
    </p:bg>
    <p:spTree>
      <p:nvGrpSpPr>
        <p:cNvPr id="1" name=""/>
        <p:cNvGrpSpPr/>
        <p:nvPr/>
      </p:nvGrpSpPr>
      <p:grpSpPr>
        <a:xfrm>
          <a:off x="0" y="0"/>
          <a:ext cx="0" cy="0"/>
          <a:chOff x="0" y="0"/>
          <a:chExt cx="0" cy="0"/>
        </a:xfrm>
      </p:grpSpPr>
      <p:sp>
        <p:nvSpPr>
          <p:cNvPr id="270" name="Text 2"/>
          <p:cNvSpPr/>
          <p:nvPr/>
        </p:nvSpPr>
        <p:spPr>
          <a:xfrm>
            <a:off x="548640" y="347400"/>
            <a:ext cx="53031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050" b="1" strike="noStrike" spc="-1">
                <a:solidFill>
                  <a:srgbClr val="E4A64A"/>
                </a:solidFill>
                <a:latin typeface="Aptos"/>
              </a:rPr>
              <a:t>CONCLUSION  ·  DATA-CENTRIC REASONING</a:t>
            </a:r>
            <a:endParaRPr lang="en-US" sz="1050" b="0" strike="noStrike" spc="-1">
              <a:latin typeface="Arial"/>
            </a:endParaRPr>
          </a:p>
        </p:txBody>
      </p:sp>
      <p:sp>
        <p:nvSpPr>
          <p:cNvPr id="271" name="Text 3"/>
          <p:cNvSpPr/>
          <p:nvPr/>
        </p:nvSpPr>
        <p:spPr>
          <a:xfrm>
            <a:off x="548640" y="841320"/>
            <a:ext cx="8137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2900" b="1" strike="noStrike" spc="-1">
                <a:solidFill>
                  <a:srgbClr val="FFFFFF"/>
                </a:solidFill>
                <a:latin typeface="Aptos"/>
              </a:rPr>
              <a:t>A raw Town map was the beginning, not the answer.</a:t>
            </a:r>
            <a:endParaRPr lang="en-US" sz="2900" b="0" strike="noStrike" spc="-1">
              <a:latin typeface="Arial"/>
            </a:endParaRPr>
          </a:p>
        </p:txBody>
      </p:sp>
      <p:sp>
        <p:nvSpPr>
          <p:cNvPr id="272" name="Panel 4"/>
          <p:cNvSpPr/>
          <p:nvPr/>
        </p:nvSpPr>
        <p:spPr>
          <a:xfrm>
            <a:off x="567000" y="1847160"/>
            <a:ext cx="2029680" cy="1352880"/>
          </a:xfrm>
          <a:prstGeom prst="roundRect">
            <a:avLst>
              <a:gd name="adj" fmla="val 16667"/>
            </a:avLst>
          </a:prstGeom>
          <a:solidFill>
            <a:srgbClr val="24464A"/>
          </a:solidFill>
          <a:ln w="12700">
            <a:solidFill>
              <a:srgbClr val="456A6B"/>
            </a:solidFill>
            <a:round/>
          </a:ln>
        </p:spPr>
        <p:style>
          <a:lnRef idx="0">
            <a:scrgbClr r="0" g="0" b="0"/>
          </a:lnRef>
          <a:fillRef idx="0">
            <a:scrgbClr r="0" g="0" b="0"/>
          </a:fillRef>
          <a:effectRef idx="0">
            <a:scrgbClr r="0" g="0" b="0"/>
          </a:effectRef>
          <a:fontRef idx="minor"/>
        </p:style>
      </p:sp>
      <p:sp>
        <p:nvSpPr>
          <p:cNvPr id="273" name="Text 5"/>
          <p:cNvSpPr/>
          <p:nvPr/>
        </p:nvSpPr>
        <p:spPr>
          <a:xfrm>
            <a:off x="713160" y="20116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PROFILE</a:t>
            </a:r>
            <a:endParaRPr lang="en-US" sz="1100" b="0" strike="noStrike" spc="-1">
              <a:latin typeface="Arial"/>
            </a:endParaRPr>
          </a:p>
        </p:txBody>
      </p:sp>
      <p:sp>
        <p:nvSpPr>
          <p:cNvPr id="274" name="Text 6"/>
          <p:cNvSpPr/>
          <p:nvPr/>
        </p:nvSpPr>
        <p:spPr>
          <a:xfrm>
            <a:off x="713160" y="2395800"/>
            <a:ext cx="17370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50" b="1" strike="noStrike" spc="-1">
                <a:solidFill>
                  <a:srgbClr val="FFFFFF"/>
                </a:solidFill>
                <a:latin typeface="Aptos"/>
              </a:rPr>
              <a:t>Surface quality</a:t>
            </a:r>
            <a:endParaRPr lang="en-US" sz="1350" b="0" strike="noStrike" spc="-1">
              <a:latin typeface="Arial"/>
            </a:endParaRPr>
          </a:p>
          <a:p>
            <a:pPr>
              <a:lnSpc>
                <a:spcPct val="100000"/>
              </a:lnSpc>
              <a:buNone/>
            </a:pPr>
            <a:r>
              <a:rPr lang="en-SG" sz="1350" b="1" strike="noStrike" spc="-1">
                <a:solidFill>
                  <a:srgbClr val="FFFFFF"/>
                </a:solidFill>
                <a:latin typeface="Aptos"/>
              </a:rPr>
              <a:t>+ hidden decisions</a:t>
            </a:r>
            <a:endParaRPr lang="en-US" sz="1350" b="0" strike="noStrike" spc="-1">
              <a:latin typeface="Arial"/>
            </a:endParaRPr>
          </a:p>
        </p:txBody>
      </p:sp>
      <p:sp>
        <p:nvSpPr>
          <p:cNvPr id="275" name="Panel 7"/>
          <p:cNvSpPr/>
          <p:nvPr/>
        </p:nvSpPr>
        <p:spPr>
          <a:xfrm>
            <a:off x="2816280" y="1847160"/>
            <a:ext cx="2029680" cy="1352880"/>
          </a:xfrm>
          <a:prstGeom prst="roundRect">
            <a:avLst>
              <a:gd name="adj" fmla="val 16667"/>
            </a:avLst>
          </a:prstGeom>
          <a:solidFill>
            <a:srgbClr val="1E3C40"/>
          </a:solidFill>
          <a:ln w="12700">
            <a:solidFill>
              <a:srgbClr val="456A6B"/>
            </a:solidFill>
            <a:round/>
          </a:ln>
        </p:spPr>
        <p:style>
          <a:lnRef idx="0">
            <a:scrgbClr r="0" g="0" b="0"/>
          </a:lnRef>
          <a:fillRef idx="0">
            <a:scrgbClr r="0" g="0" b="0"/>
          </a:fillRef>
          <a:effectRef idx="0">
            <a:scrgbClr r="0" g="0" b="0"/>
          </a:effectRef>
          <a:fontRef idx="minor"/>
        </p:style>
      </p:sp>
      <p:sp>
        <p:nvSpPr>
          <p:cNvPr id="276" name="Text 8"/>
          <p:cNvSpPr/>
          <p:nvPr/>
        </p:nvSpPr>
        <p:spPr>
          <a:xfrm>
            <a:off x="2962800" y="20116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PREPARE</a:t>
            </a:r>
            <a:endParaRPr lang="en-US" sz="1100" b="0" strike="noStrike" spc="-1">
              <a:latin typeface="Arial"/>
            </a:endParaRPr>
          </a:p>
        </p:txBody>
      </p:sp>
      <p:sp>
        <p:nvSpPr>
          <p:cNvPr id="277" name="Text 9"/>
          <p:cNvSpPr/>
          <p:nvPr/>
        </p:nvSpPr>
        <p:spPr>
          <a:xfrm>
            <a:off x="2962800" y="2395800"/>
            <a:ext cx="17370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50" b="1" strike="noStrike" spc="-1">
                <a:solidFill>
                  <a:srgbClr val="FFFFFF"/>
                </a:solidFill>
                <a:latin typeface="Aptos"/>
              </a:rPr>
              <a:t>Semantics</a:t>
            </a:r>
            <a:endParaRPr lang="en-US" sz="1350" b="0" strike="noStrike" spc="-1">
              <a:latin typeface="Arial"/>
            </a:endParaRPr>
          </a:p>
          <a:p>
            <a:pPr>
              <a:lnSpc>
                <a:spcPct val="100000"/>
              </a:lnSpc>
              <a:buNone/>
            </a:pPr>
            <a:r>
              <a:rPr lang="en-SG" sz="1350" b="1" strike="noStrike" spc="-1">
                <a:solidFill>
                  <a:srgbClr val="FFFFFF"/>
                </a:solidFill>
                <a:latin typeface="Aptos"/>
              </a:rPr>
              <a:t>+ consistent exclusions</a:t>
            </a:r>
            <a:endParaRPr lang="en-US" sz="1350" b="0" strike="noStrike" spc="-1">
              <a:latin typeface="Arial"/>
            </a:endParaRPr>
          </a:p>
        </p:txBody>
      </p:sp>
      <p:sp>
        <p:nvSpPr>
          <p:cNvPr id="278" name="Panel 10"/>
          <p:cNvSpPr/>
          <p:nvPr/>
        </p:nvSpPr>
        <p:spPr>
          <a:xfrm>
            <a:off x="5065920" y="1847160"/>
            <a:ext cx="2029680" cy="1352880"/>
          </a:xfrm>
          <a:prstGeom prst="roundRect">
            <a:avLst>
              <a:gd name="adj" fmla="val 16667"/>
            </a:avLst>
          </a:prstGeom>
          <a:solidFill>
            <a:srgbClr val="24464A"/>
          </a:solidFill>
          <a:ln w="12700">
            <a:solidFill>
              <a:srgbClr val="456A6B"/>
            </a:solidFill>
            <a:round/>
          </a:ln>
        </p:spPr>
        <p:style>
          <a:lnRef idx="0">
            <a:scrgbClr r="0" g="0" b="0"/>
          </a:lnRef>
          <a:fillRef idx="0">
            <a:scrgbClr r="0" g="0" b="0"/>
          </a:fillRef>
          <a:effectRef idx="0">
            <a:scrgbClr r="0" g="0" b="0"/>
          </a:effectRef>
          <a:fontRef idx="minor"/>
        </p:style>
      </p:sp>
      <p:sp>
        <p:nvSpPr>
          <p:cNvPr id="279" name="Text 11"/>
          <p:cNvSpPr/>
          <p:nvPr/>
        </p:nvSpPr>
        <p:spPr>
          <a:xfrm>
            <a:off x="5212080" y="20116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CHALLENGE</a:t>
            </a:r>
            <a:endParaRPr lang="en-US" sz="1100" b="0" strike="noStrike" spc="-1">
              <a:latin typeface="Arial"/>
            </a:endParaRPr>
          </a:p>
        </p:txBody>
      </p:sp>
      <p:sp>
        <p:nvSpPr>
          <p:cNvPr id="280" name="Text 12"/>
          <p:cNvSpPr/>
          <p:nvPr/>
        </p:nvSpPr>
        <p:spPr>
          <a:xfrm>
            <a:off x="5212080" y="2395800"/>
            <a:ext cx="17370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50" b="1" strike="noStrike" spc="-1">
                <a:solidFill>
                  <a:srgbClr val="FFFFFF"/>
                </a:solidFill>
                <a:latin typeface="Aptos"/>
              </a:rPr>
              <a:t>Support, order</a:t>
            </a:r>
            <a:endParaRPr lang="en-US" sz="1350" b="0" strike="noStrike" spc="-1">
              <a:latin typeface="Arial"/>
            </a:endParaRPr>
          </a:p>
          <a:p>
            <a:pPr>
              <a:lnSpc>
                <a:spcPct val="100000"/>
              </a:lnSpc>
              <a:buNone/>
            </a:pPr>
            <a:r>
              <a:rPr lang="en-SG" sz="1350" b="1" strike="noStrike" spc="-1">
                <a:solidFill>
                  <a:srgbClr val="FFFFFF"/>
                </a:solidFill>
                <a:latin typeface="Aptos"/>
              </a:rPr>
              <a:t>+ subgroup errors</a:t>
            </a:r>
            <a:endParaRPr lang="en-US" sz="1350" b="0" strike="noStrike" spc="-1">
              <a:latin typeface="Arial"/>
            </a:endParaRPr>
          </a:p>
        </p:txBody>
      </p:sp>
      <p:sp>
        <p:nvSpPr>
          <p:cNvPr id="281" name="Panel 13"/>
          <p:cNvSpPr/>
          <p:nvPr/>
        </p:nvSpPr>
        <p:spPr>
          <a:xfrm>
            <a:off x="7315200" y="1847160"/>
            <a:ext cx="2029680" cy="1352880"/>
          </a:xfrm>
          <a:prstGeom prst="roundRect">
            <a:avLst>
              <a:gd name="adj" fmla="val 16667"/>
            </a:avLst>
          </a:prstGeom>
          <a:solidFill>
            <a:srgbClr val="1E3C40"/>
          </a:solidFill>
          <a:ln w="12700">
            <a:solidFill>
              <a:srgbClr val="456A6B"/>
            </a:solidFill>
            <a:round/>
          </a:ln>
        </p:spPr>
        <p:style>
          <a:lnRef idx="0">
            <a:scrgbClr r="0" g="0" b="0"/>
          </a:lnRef>
          <a:fillRef idx="0">
            <a:scrgbClr r="0" g="0" b="0"/>
          </a:fillRef>
          <a:effectRef idx="0">
            <a:scrgbClr r="0" g="0" b="0"/>
          </a:effectRef>
          <a:fontRef idx="minor"/>
        </p:style>
      </p:sp>
      <p:sp>
        <p:nvSpPr>
          <p:cNvPr id="282" name="Text 14"/>
          <p:cNvSpPr/>
          <p:nvPr/>
        </p:nvSpPr>
        <p:spPr>
          <a:xfrm>
            <a:off x="7461360" y="20116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REVISE</a:t>
            </a:r>
            <a:endParaRPr lang="en-US" sz="1100" b="0" strike="noStrike" spc="-1">
              <a:latin typeface="Arial"/>
            </a:endParaRPr>
          </a:p>
        </p:txBody>
      </p:sp>
      <p:sp>
        <p:nvSpPr>
          <p:cNvPr id="283" name="Text 15"/>
          <p:cNvSpPr/>
          <p:nvPr/>
        </p:nvSpPr>
        <p:spPr>
          <a:xfrm>
            <a:off x="7461360" y="2395800"/>
            <a:ext cx="17370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50" b="1" strike="noStrike" spc="-1">
                <a:solidFill>
                  <a:srgbClr val="FFFFFF"/>
                </a:solidFill>
                <a:latin typeface="Aptos"/>
              </a:rPr>
              <a:t>Residual address</a:t>
            </a:r>
            <a:endParaRPr lang="en-US" sz="1350" b="0" strike="noStrike" spc="-1">
              <a:latin typeface="Arial"/>
            </a:endParaRPr>
          </a:p>
          <a:p>
            <a:pPr>
              <a:lnSpc>
                <a:spcPct val="100000"/>
              </a:lnSpc>
              <a:buNone/>
            </a:pPr>
            <a:r>
              <a:rPr lang="en-SG" sz="1350" b="1" strike="noStrike" spc="-1">
                <a:solidFill>
                  <a:srgbClr val="FFFFFF"/>
                </a:solidFill>
                <a:latin typeface="Aptos"/>
              </a:rPr>
              <a:t>+ time separation</a:t>
            </a:r>
            <a:endParaRPr lang="en-US" sz="1350" b="0" strike="noStrike" spc="-1">
              <a:latin typeface="Arial"/>
            </a:endParaRPr>
          </a:p>
        </p:txBody>
      </p:sp>
      <p:sp>
        <p:nvSpPr>
          <p:cNvPr id="284" name="Panel 16"/>
          <p:cNvSpPr/>
          <p:nvPr/>
        </p:nvSpPr>
        <p:spPr>
          <a:xfrm>
            <a:off x="9564480" y="1847160"/>
            <a:ext cx="2029680" cy="1352880"/>
          </a:xfrm>
          <a:prstGeom prst="roundRect">
            <a:avLst>
              <a:gd name="adj" fmla="val 16667"/>
            </a:avLst>
          </a:prstGeom>
          <a:solidFill>
            <a:srgbClr val="24464A"/>
          </a:solidFill>
          <a:ln w="12700">
            <a:solidFill>
              <a:srgbClr val="456A6B"/>
            </a:solidFill>
            <a:round/>
          </a:ln>
        </p:spPr>
        <p:style>
          <a:lnRef idx="0">
            <a:scrgbClr r="0" g="0" b="0"/>
          </a:lnRef>
          <a:fillRef idx="0">
            <a:scrgbClr r="0" g="0" b="0"/>
          </a:fillRef>
          <a:effectRef idx="0">
            <a:scrgbClr r="0" g="0" b="0"/>
          </a:effectRef>
          <a:fontRef idx="minor"/>
        </p:style>
      </p:sp>
      <p:sp>
        <p:nvSpPr>
          <p:cNvPr id="285" name="Text 17"/>
          <p:cNvSpPr/>
          <p:nvPr/>
        </p:nvSpPr>
        <p:spPr>
          <a:xfrm>
            <a:off x="9711000" y="20116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00" b="1" strike="noStrike" spc="-1">
                <a:solidFill>
                  <a:srgbClr val="E4A64A"/>
                </a:solidFill>
                <a:latin typeface="Aptos"/>
              </a:rPr>
              <a:t>VALIDATE</a:t>
            </a:r>
            <a:endParaRPr lang="en-US" sz="1100" b="0" strike="noStrike" spc="-1">
              <a:latin typeface="Arial"/>
            </a:endParaRPr>
          </a:p>
        </p:txBody>
      </p:sp>
      <p:sp>
        <p:nvSpPr>
          <p:cNvPr id="286" name="Text 18"/>
          <p:cNvSpPr/>
          <p:nvPr/>
        </p:nvSpPr>
        <p:spPr>
          <a:xfrm>
            <a:off x="9711000" y="2395800"/>
            <a:ext cx="17370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350" b="1" strike="noStrike" spc="-1">
                <a:solidFill>
                  <a:srgbClr val="FFFFFF"/>
                </a:solidFill>
                <a:latin typeface="Aptos"/>
              </a:rPr>
              <a:t>Rolling origins</a:t>
            </a:r>
            <a:endParaRPr lang="en-US" sz="1350" b="0" strike="noStrike" spc="-1">
              <a:latin typeface="Arial"/>
            </a:endParaRPr>
          </a:p>
          <a:p>
            <a:pPr>
              <a:lnSpc>
                <a:spcPct val="100000"/>
              </a:lnSpc>
              <a:buNone/>
            </a:pPr>
            <a:r>
              <a:rPr lang="en-SG" sz="1350" b="1" strike="noStrike" spc="-1">
                <a:solidFill>
                  <a:srgbClr val="FFFFFF"/>
                </a:solidFill>
                <a:latin typeface="Aptos"/>
              </a:rPr>
              <a:t>+ governance cost</a:t>
            </a:r>
            <a:endParaRPr lang="en-US" sz="1350" b="0" strike="noStrike" spc="-1">
              <a:latin typeface="Arial"/>
            </a:endParaRPr>
          </a:p>
        </p:txBody>
      </p:sp>
      <p:sp>
        <p:nvSpPr>
          <p:cNvPr id="287" name="Panel 19"/>
          <p:cNvSpPr/>
          <p:nvPr/>
        </p:nvSpPr>
        <p:spPr>
          <a:xfrm>
            <a:off x="567000" y="3730680"/>
            <a:ext cx="6537600" cy="1352880"/>
          </a:xfrm>
          <a:prstGeom prst="roundRect">
            <a:avLst>
              <a:gd name="adj" fmla="val 16667"/>
            </a:avLst>
          </a:prstGeom>
          <a:solidFill>
            <a:srgbClr val="23454A"/>
          </a:solidFill>
          <a:ln w="12700">
            <a:solidFill>
              <a:srgbClr val="3E6668"/>
            </a:solidFill>
            <a:round/>
          </a:ln>
        </p:spPr>
        <p:style>
          <a:lnRef idx="0">
            <a:scrgbClr r="0" g="0" b="0"/>
          </a:lnRef>
          <a:fillRef idx="0">
            <a:scrgbClr r="0" g="0" b="0"/>
          </a:fillRef>
          <a:effectRef idx="0">
            <a:scrgbClr r="0" g="0" b="0"/>
          </a:effectRef>
          <a:fontRef idx="minor"/>
        </p:style>
      </p:sp>
      <p:sp>
        <p:nvSpPr>
          <p:cNvPr id="288" name="Text 20"/>
          <p:cNvSpPr/>
          <p:nvPr/>
        </p:nvSpPr>
        <p:spPr>
          <a:xfrm>
            <a:off x="804600" y="3913560"/>
            <a:ext cx="605304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650" b="1" strike="noStrike" spc="-1">
                <a:solidFill>
                  <a:srgbClr val="FFFFFF"/>
                </a:solidFill>
                <a:latin typeface="Aptos"/>
              </a:rPr>
              <a:t>Housing composition reverses the PASIR RIS comparison.</a:t>
            </a:r>
            <a:endParaRPr lang="en-US" sz="1650" b="0" strike="noStrike" spc="-1">
              <a:latin typeface="Arial"/>
            </a:endParaRPr>
          </a:p>
          <a:p>
            <a:pPr>
              <a:lnSpc>
                <a:spcPct val="100000"/>
              </a:lnSpc>
              <a:buNone/>
            </a:pPr>
            <a:r>
              <a:rPr lang="en-SG" sz="1650" b="1" strike="noStrike" spc="-1">
                <a:solidFill>
                  <a:srgbClr val="FFFFFF"/>
                </a:solidFill>
                <a:latin typeface="Aptos"/>
              </a:rPr>
              <a:t>Prediction gains are real—but reliability is uneven and period-dependent.</a:t>
            </a:r>
            <a:endParaRPr lang="en-US" sz="1650" b="0" strike="noStrike" spc="-1">
              <a:latin typeface="Arial"/>
            </a:endParaRPr>
          </a:p>
        </p:txBody>
      </p:sp>
      <p:sp>
        <p:nvSpPr>
          <p:cNvPr id="289" name="Panel 21"/>
          <p:cNvSpPr/>
          <p:nvPr/>
        </p:nvSpPr>
        <p:spPr>
          <a:xfrm>
            <a:off x="7379280" y="3730680"/>
            <a:ext cx="3675600" cy="1352880"/>
          </a:xfrm>
          <a:prstGeom prst="roundRect">
            <a:avLst>
              <a:gd name="adj" fmla="val 16667"/>
            </a:avLst>
          </a:prstGeom>
          <a:solidFill>
            <a:srgbClr val="D6654F"/>
          </a:solidFill>
          <a:ln w="0">
            <a:noFill/>
          </a:ln>
        </p:spPr>
        <p:style>
          <a:lnRef idx="0">
            <a:scrgbClr r="0" g="0" b="0"/>
          </a:lnRef>
          <a:fillRef idx="0">
            <a:scrgbClr r="0" g="0" b="0"/>
          </a:fillRef>
          <a:effectRef idx="0">
            <a:scrgbClr r="0" g="0" b="0"/>
          </a:effectRef>
          <a:fontRef idx="minor"/>
        </p:style>
      </p:sp>
      <p:sp>
        <p:nvSpPr>
          <p:cNvPr id="290" name="Text 22"/>
          <p:cNvSpPr/>
          <p:nvPr/>
        </p:nvSpPr>
        <p:spPr>
          <a:xfrm>
            <a:off x="7626240" y="3913560"/>
            <a:ext cx="320004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650" b="1" strike="noStrike" spc="-1">
                <a:solidFill>
                  <a:srgbClr val="FFFFFF"/>
                </a:solidFill>
                <a:latin typeface="Aptos"/>
              </a:rPr>
              <a:t>Interpret the model as evidence</a:t>
            </a:r>
            <a:endParaRPr lang="en-US" sz="1650" b="0" strike="noStrike" spc="-1">
              <a:latin typeface="Arial"/>
            </a:endParaRPr>
          </a:p>
          <a:p>
            <a:pPr>
              <a:lnSpc>
                <a:spcPct val="100000"/>
              </a:lnSpc>
              <a:buNone/>
            </a:pPr>
            <a:r>
              <a:rPr lang="en-SG" sz="1650" b="1" strike="noStrike" spc="-1">
                <a:solidFill>
                  <a:srgbClr val="FFFFFF"/>
                </a:solidFill>
                <a:latin typeface="Aptos"/>
              </a:rPr>
              <a:t>for preparation decisions.</a:t>
            </a:r>
            <a:endParaRPr lang="en-US" sz="1650" b="0" strike="noStrike" spc="-1">
              <a:latin typeface="Arial"/>
            </a:endParaRPr>
          </a:p>
        </p:txBody>
      </p:sp>
      <p:sp>
        <p:nvSpPr>
          <p:cNvPr id="291" name="Text 23"/>
          <p:cNvSpPr/>
          <p:nvPr/>
        </p:nvSpPr>
        <p:spPr>
          <a:xfrm>
            <a:off x="567000" y="5321880"/>
            <a:ext cx="103780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buNone/>
            </a:pPr>
            <a:r>
              <a:rPr lang="en-SG" sz="1150" b="0" strike="noStrike" spc="-1">
                <a:solidFill>
                  <a:srgbClr val="CFDEDA"/>
                </a:solidFill>
                <a:latin typeface="Aptos"/>
              </a:rPr>
              <a:t>Limits: observational data · omitted renovation and accessibility · planning-area map proxies · imperfect future time trends</a:t>
            </a:r>
            <a:endParaRPr lang="en-US" sz="1150" b="0" strike="noStrike" spc="-1">
              <a:latin typeface="Arial"/>
            </a:endParaRPr>
          </a:p>
        </p:txBody>
      </p:sp>
      <p:sp>
        <p:nvSpPr>
          <p:cNvPr id="292" name="Text 24"/>
          <p:cNvSpPr/>
          <p:nvPr/>
        </p:nvSpPr>
        <p:spPr>
          <a:xfrm>
            <a:off x="10835640" y="5925240"/>
            <a:ext cx="548280" cy="200880"/>
          </a:xfrm>
          <a:prstGeom prst="rect">
            <a:avLst/>
          </a:prstGeom>
          <a:noFill/>
          <a:ln w="0">
            <a:noFill/>
          </a:ln>
        </p:spPr>
        <p:style>
          <a:lnRef idx="0">
            <a:scrgbClr r="0" g="0" b="0"/>
          </a:lnRef>
          <a:fillRef idx="0">
            <a:scrgbClr r="0" g="0" b="0"/>
          </a:fillRef>
          <a:effectRef idx="0">
            <a:scrgbClr r="0" g="0" b="0"/>
          </a:effectRef>
          <a:fontRef idx="minor"/>
        </p:style>
        <p:txBody>
          <a:bodyPr lIns="73080" tIns="146160" rIns="73080" bIns="146160" anchor="t">
            <a:noAutofit/>
          </a:bodyPr>
          <a:lstStyle/>
          <a:p>
            <a:pPr algn="r">
              <a:lnSpc>
                <a:spcPct val="100000"/>
              </a:lnSpc>
              <a:buNone/>
            </a:pPr>
            <a:r>
              <a:rPr lang="en-SG" sz="950" b="0" strike="noStrike" spc="-1">
                <a:solidFill>
                  <a:srgbClr val="A9BEBA"/>
                </a:solidFill>
                <a:latin typeface="Aptos"/>
              </a:rPr>
              <a:t>11</a:t>
            </a:r>
            <a:endParaRPr lang="en-US" sz="95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2569</Words>
  <Application>Microsoft Office PowerPoint</Application>
  <PresentationFormat>宽屏</PresentationFormat>
  <Paragraphs>251</Paragraphs>
  <Slides>11</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Aptos</vt:lpstr>
      <vt:lpstr>Arial</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Does a Town Premium Disappear?</dc:title>
  <dc:subject>CA6003 HDB resale data preparation, hedonic regression and governance</dc:subject>
  <dc:creator>Walnut Exporter</dc:creator>
  <dc:description/>
  <cp:lastModifiedBy>Gu shucheng</cp:lastModifiedBy>
  <cp:revision>3</cp:revision>
  <dcterms:created xsi:type="dcterms:W3CDTF">2026-10-16T12:11:57Z</dcterms:created>
  <dcterms:modified xsi:type="dcterms:W3CDTF">2026-10-16T18:14:52Z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11</vt:r8>
  </property>
  <property fmtid="{D5CDD505-2E9C-101B-9397-08002B2CF9AE}" pid="3" name="ICV">
    <vt:lpwstr>338686CBB22C8FA68D14D26ADF2C06A4_42</vt:lpwstr>
  </property>
  <property fmtid="{D5CDD505-2E9C-101B-9397-08002B2CF9AE}" pid="4" name="KSOProductBuildVer">
    <vt:lpwstr>2052-12.1.26046.26046</vt:lpwstr>
  </property>
  <property fmtid="{D5CDD505-2E9C-101B-9397-08002B2CF9AE}" pid="5" name="Notes">
    <vt:r8>11</vt:r8>
  </property>
  <property fmtid="{D5CDD505-2E9C-101B-9397-08002B2CF9AE}" pid="6" name="PresentationFormat">
    <vt:lpwstr>Widescreen</vt:lpwstr>
  </property>
  <property fmtid="{D5CDD505-2E9C-101B-9397-08002B2CF9AE}" pid="7" name="Slides">
    <vt:r8>11</vt:r8>
  </property>
</Properties>
</file>